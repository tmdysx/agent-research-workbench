
<file path=[Content_Types].xml><?xml version="1.0" encoding="utf-8"?>
<ns0:Types xmlns:ns0="http://schemas.openxmlformats.org/package/2006/content-types">
  <ns0:Default Extension="xml" ContentType="application/vnd.openxmlformats-package.core-properties+xml"/>
  <ns0:Default Extension="jpeg" ContentType="image/jpeg"/>
  <ns0:Default Extension="png" ContentType="image/png"/>
  <ns0:Default Extension="rels" ContentType="application/vnd.openxmlformats-package.relationships+xml"/>
  <ns0:Override PartName="/docProps/app.xml" ContentType="application/vnd.openxmlformats-officedocument.extended-properties+xml"/>
  <ns0:Override PartName="/ppt/presentation.xml" ContentType="application/vnd.openxmlformats-officedocument.presentationml.presentation.main+xml"/>
  <ns0:Override PartName="/ppt/theme/theme1.xml" ContentType="application/vnd.openxmlformats-officedocument.theme+xml"/>
  <ns0:Override PartName="/ppt/slideMasters/slideMaster1.xml" ContentType="application/vnd.openxmlformats-officedocument.presentationml.slideMaster+xml"/>
  <ns0:Override PartName="/ppt/slideMasters/theme/theme2.xml" ContentType="application/vnd.openxmlformats-officedocument.theme+xml"/>
  <ns0:Override PartName="/ppt/slideLayouts/slideLayout1.xml" ContentType="application/vnd.openxmlformats-officedocument.presentationml.slideLayout+xml"/>
  <ns0:Override PartName="/ppt/notesMasters/notesMaster1.xml" ContentType="application/vnd.openxmlformats-officedocument.presentationml.notesMaster+xml"/>
  <ns0:Override PartName="/ppt/notesMasters/theme/theme3.xml" ContentType="application/vnd.openxmlformats-officedocument.theme+xml"/>
  <ns0:Override PartName="/ppt/presProps.xml" ContentType="application/vnd.openxmlformats-officedocument.presentationml.presProps+xml"/>
  <ns0:Override PartName="/ppt/tableStyles.xml" ContentType="application/vnd.openxmlformats-officedocument.presentationml.tableStyles+xml"/>
  <ns0:Override PartName="/ppt/slides/slide1.xml" ContentType="application/vnd.openxmlformats-officedocument.presentationml.slide+xml"/>
  <ns0:Override PartName="/ppt/notesSlides/notesSlide1.xml" ContentType="application/vnd.openxmlformats-officedocument.presentationml.notesSlide+xml"/>
  <ns0:Override PartName="/ppt/slides/slide2.xml" ContentType="application/vnd.openxmlformats-officedocument.presentationml.slide+xml"/>
  <ns0:Override PartName="/ppt/notesSlides/notesSlide2.xml" ContentType="application/vnd.openxmlformats-officedocument.presentationml.notesSlide+xml"/>
  <ns0:Override PartName="/ppt/slides/slide3.xml" ContentType="application/vnd.openxmlformats-officedocument.presentationml.slide+xml"/>
  <ns0:Override PartName="/ppt/notesSlides/notesSlide3.xml" ContentType="application/vnd.openxmlformats-officedocument.presentationml.notesSlide+xml"/>
  <ns0:Override PartName="/ppt/slides/slide4.xml" ContentType="application/vnd.openxmlformats-officedocument.presentationml.slide+xml"/>
  <ns0:Override PartName="/ppt/notesSlides/notesSlide4.xml" ContentType="application/vnd.openxmlformats-officedocument.presentationml.notesSlide+xml"/>
  <ns0:Override PartName="/ppt/slides/slide5.xml" ContentType="application/vnd.openxmlformats-officedocument.presentationml.slide+xml"/>
  <ns0:Override PartName="/ppt/notesSlides/notesSlide5.xml" ContentType="application/vnd.openxmlformats-officedocument.presentationml.notesSlide+xml"/>
  <ns0:Override PartName="/ppt/slides/slide6.xml" ContentType="application/vnd.openxmlformats-officedocument.presentationml.slide+xml"/>
  <ns0:Override PartName="/ppt/notesSlides/notesSlide6.xml" ContentType="application/vnd.openxmlformats-officedocument.presentationml.notesSlide+xml"/>
  <ns0:Override PartName="/ppt/slides/slide7.xml" ContentType="application/vnd.openxmlformats-officedocument.presentationml.slide+xml"/>
  <ns0:Override PartName="/ppt/notesSlides/notesSlide7.xml" ContentType="application/vnd.openxmlformats-officedocument.presentationml.notesSlide+xml"/>
  <ns0:Override PartName="/ppt/slides/slide8.xml" ContentType="application/vnd.openxmlformats-officedocument.presentationml.slide+xml"/>
  <ns0:Override PartName="/ppt/notesSlides/notesSlide8.xml" ContentType="application/vnd.openxmlformats-officedocument.presentationml.notesSlide+xml"/>
  <ns0:Override PartName="/ppt/slides/slide9.xml" ContentType="application/vnd.openxmlformats-officedocument.presentationml.slide+xml"/>
  <ns0:Override PartName="/ppt/notesSlides/notesSlide9.xml" ContentType="application/vnd.openxmlformats-officedocument.presentationml.notesSlide+xml"/>
  <ns0:Override PartName="/ppt/slides/slide10.xml" ContentType="application/vnd.openxmlformats-officedocument.presentationml.slide+xml"/>
  <ns0:Override PartName="/ppt/notesSlides/notesSlide10.xml" ContentType="application/vnd.openxmlformats-officedocument.presentationml.notesSlide+xml"/>
  <ns0:Override PartName="/ppt/slides/slide11.xml" ContentType="application/vnd.openxmlformats-officedocument.presentationml.slide+xml"/>
  <ns0:Override PartName="/ppt/notesSlides/notesSlide11.xml" ContentType="application/vnd.openxmlformats-officedocument.presentationml.notesSlide+xml"/>
  <ns0:Override PartName="/ppt/slides/slide12.xml" ContentType="application/vnd.openxmlformats-officedocument.presentationml.slide+xml"/>
  <ns0:Override PartName="/ppt/notesSlides/notesSlide12.xml" ContentType="application/vnd.openxmlformats-officedocument.presentationml.notesSlide+xml"/>
  <ns0:Override PartName="/ppt/slides/slide13.xml" ContentType="application/vnd.openxmlformats-officedocument.presentationml.slide+xml"/>
  <ns0:Override PartName="/ppt/notesSlides/notesSlide13.xml" ContentType="application/vnd.openxmlformats-officedocument.presentationml.notesSlide+xml"/>
  <ns0:Override PartName="/ppt/slides/slide14.xml" ContentType="application/vnd.openxmlformats-officedocument.presentationml.slide+xml"/>
  <ns0:Override PartName="/ppt/notesSlides/notesSlide14.xml" ContentType="application/vnd.openxmlformats-officedocument.presentationml.notesSlide+xml"/>
  <ns0:Override PartName="/ppt/slides/slide15.xml" ContentType="application/vnd.openxmlformats-officedocument.presentationml.slide+xml"/>
  <ns0:Override PartName="/ppt/notesSlides/notesSlide15.xml" ContentType="application/vnd.openxmlformats-officedocument.presentationml.notesSlide+xml"/>
  <ns0:Override PartName="/ppt/slides/slide16.xml" ContentType="application/vnd.openxmlformats-officedocument.presentationml.slide+xml"/>
  <ns0:Override PartName="/ppt/notesSlides/notesSlide16.xml" ContentType="application/vnd.openxmlformats-officedocument.presentationml.notesSlide+xml"/>
  <ns0:Override PartName="/ppt/slides/slide17.xml" ContentType="application/vnd.openxmlformats-officedocument.presentationml.slide+xml"/>
  <ns0:Override PartName="/ppt/notesSlides/notesSlide17.xml" ContentType="application/vnd.openxmlformats-officedocument.presentationml.notesSlide+xml"/>
  <ns0:Override PartName="/ppt/slides/slide18.xml" ContentType="application/vnd.openxmlformats-officedocument.presentationml.slide+xml"/>
  <ns0:Override PartName="/ppt/notesSlides/notesSlide18.xml" ContentType="application/vnd.openxmlformats-officedocument.presentationml.notesSlide+xml"/>
  <ns0:Override PartName="/ppt/slides/slide19.xml" ContentType="application/vnd.openxmlformats-officedocument.presentationml.slide+xml"/>
  <ns0:Override PartName="/ppt/notesSlides/notesSlide19.xml" ContentType="application/vnd.openxmlformats-officedocument.presentationml.notesSlide+xml"/>
  <ns0:Override PartName="/ppt/slides/slide20.xml" ContentType="application/vnd.openxmlformats-officedocument.presentationml.slide+xml"/>
  <ns0:Override PartName="/ppt/notesSlides/notesSlide20.xml" ContentType="application/vnd.openxmlformats-officedocument.presentationml.notesSlide+xml"/>
  <ns0:Override PartName="/ppt/slides/slide21.xml" ContentType="application/vnd.openxmlformats-officedocument.presentationml.slide+xml"/>
  <ns0:Override PartName="/ppt/notesSlides/notesSlide21.xml" ContentType="application/vnd.openxmlformats-officedocument.presentationml.notesSlide+xml"/>
  <ns0:Override PartName="/ppt/slides/slide22.xml" ContentType="application/vnd.openxmlformats-officedocument.presentationml.slide+xml"/>
  <ns0:Override PartName="/ppt/notesSlides/notesSlide22.xml" ContentType="application/vnd.openxmlformats-officedocument.presentationml.notesSlide+xml"/>
  <ns0:Override PartName="/ppt/slides/slide23.xml" ContentType="application/vnd.openxmlformats-officedocument.presentationml.slide+xml"/>
  <ns0:Override PartName="/ppt/notesSlides/notesSlide23.xml" ContentType="application/vnd.openxmlformats-officedocument.presentationml.notesSlide+xml"/>
</ns0: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c2d0fb831e4756" /><Relationship Type="http://schemas.openxmlformats.org/officeDocument/2006/relationships/extended-properties" Target="/docProps/app.xml" Id="Re67592cec4a24fe5" /><Relationship Type="http://schemas.openxmlformats.org/officeDocument/2006/relationships/officeDocument" Target="/ppt/presentation.xml" Id="R66267b5c620a4811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6b7f726cdd3841af"/>
  </p:sldMasterIdLst>
  <p:notesMasterIdLst>
    <p:notesMasterId r:id="R442c8ae9656546a2"/>
  </p:notesMasterIdLst>
  <p:sldIdLst>
    <p:sldId id="256" r:id="R52090cef225a47ac"/>
    <p:sldId id="257" r:id="R6f1a10fa36a14fe5"/>
    <p:sldId id="258" r:id="R427b62cc0a50417a"/>
    <p:sldId id="259" r:id="Rf4ca682217dc41ab"/>
    <p:sldId id="260" r:id="R937af7ed9d524916"/>
    <p:sldId id="261" r:id="R4c200194b8544b47"/>
    <p:sldId id="262" r:id="Rd94d96f69e964865"/>
    <p:sldId id="263" r:id="Rea9824ec5dfb4445"/>
    <p:sldId id="264" r:id="R2cf426e0c9f74001"/>
    <p:sldId id="265" r:id="R46e79cc0ef234866"/>
    <p:sldId id="266" r:id="R90adac490d6c4a04"/>
    <p:sldId id="267" r:id="R437371b4d1fb4e86"/>
    <p:sldId id="268" r:id="R6149c4cec7894a41"/>
    <p:sldId id="269" r:id="R7705c77994c24b07"/>
    <p:sldId id="270" r:id="Rc0592ac6c08c4c99"/>
    <p:sldId id="271" r:id="Rc3fc9756923042e9"/>
    <p:sldId id="272" r:id="R4aa1d6ce9b9247d8"/>
    <p:sldId id="273" r:id="R79760858271243bb"/>
    <p:sldId id="274" r:id="Rdd08132adad84bb3"/>
    <p:sldId id="275" r:id="Re10754e5a16842aa"/>
    <p:sldId id="276" r:id="Rbd61948373184375"/>
    <p:sldId id="277" r:id="R6737eb0788f343ac"/>
    <p:sldId id="278" r:id="rIdLicensePage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2f8ac3ae98f94ecd" /><ns0:Relationship Type="http://schemas.openxmlformats.org/officeDocument/2006/relationships/slideMaster" Target="/ppt/slideMasters/slideMaster1.xml" Id="R6b7f726cdd3841af" /><ns0:Relationship Type="http://schemas.openxmlformats.org/officeDocument/2006/relationships/notesMaster" Target="/ppt/notesMasters/notesMaster1.xml" Id="R442c8ae9656546a2" /><ns0:Relationship Type="http://schemas.openxmlformats.org/officeDocument/2006/relationships/presProps" Target="/ppt/presProps.xml" Id="R0f77a475da4341a0" /><ns0:Relationship Type="http://schemas.openxmlformats.org/officeDocument/2006/relationships/tableStyles" Target="/ppt/tableStyles.xml" Id="R77c7e2cf78734b8e" /><ns0:Relationship Type="http://schemas.openxmlformats.org/officeDocument/2006/relationships/slide" Target="/ppt/slides/slide1.xml" Id="R52090cef225a47ac" /><ns0:Relationship Type="http://schemas.openxmlformats.org/officeDocument/2006/relationships/slide" Target="/ppt/slides/slide2.xml" Id="R6f1a10fa36a14fe5" /><ns0:Relationship Type="http://schemas.openxmlformats.org/officeDocument/2006/relationships/slide" Target="/ppt/slides/slide3.xml" Id="R427b62cc0a50417a" /><ns0:Relationship Type="http://schemas.openxmlformats.org/officeDocument/2006/relationships/slide" Target="/ppt/slides/slide4.xml" Id="Rf4ca682217dc41ab" /><ns0:Relationship Type="http://schemas.openxmlformats.org/officeDocument/2006/relationships/slide" Target="/ppt/slides/slide5.xml" Id="R937af7ed9d524916" /><ns0:Relationship Type="http://schemas.openxmlformats.org/officeDocument/2006/relationships/slide" Target="/ppt/slides/slide6.xml" Id="R4c200194b8544b47" /><ns0:Relationship Type="http://schemas.openxmlformats.org/officeDocument/2006/relationships/slide" Target="/ppt/slides/slide7.xml" Id="Rd94d96f69e964865" /><ns0:Relationship Type="http://schemas.openxmlformats.org/officeDocument/2006/relationships/slide" Target="/ppt/slides/slide8.xml" Id="Rea9824ec5dfb4445" /><ns0:Relationship Type="http://schemas.openxmlformats.org/officeDocument/2006/relationships/slide" Target="/ppt/slides/slide9.xml" Id="R2cf426e0c9f74001" /><ns0:Relationship Type="http://schemas.openxmlformats.org/officeDocument/2006/relationships/slide" Target="/ppt/slides/slide10.xml" Id="R46e79cc0ef234866" /><ns0:Relationship Type="http://schemas.openxmlformats.org/officeDocument/2006/relationships/slide" Target="/ppt/slides/slide11.xml" Id="R90adac490d6c4a04" /><ns0:Relationship Type="http://schemas.openxmlformats.org/officeDocument/2006/relationships/slide" Target="/ppt/slides/slide12.xml" Id="R437371b4d1fb4e86" /><ns0:Relationship Type="http://schemas.openxmlformats.org/officeDocument/2006/relationships/slide" Target="/ppt/slides/slide13.xml" Id="R6149c4cec7894a41" /><ns0:Relationship Type="http://schemas.openxmlformats.org/officeDocument/2006/relationships/slide" Target="/ppt/slides/slide14.xml" Id="R7705c77994c24b07" /><ns0:Relationship Type="http://schemas.openxmlformats.org/officeDocument/2006/relationships/slide" Target="/ppt/slides/slide15.xml" Id="Rc0592ac6c08c4c99" /><ns0:Relationship Type="http://schemas.openxmlformats.org/officeDocument/2006/relationships/slide" Target="/ppt/slides/slide16.xml" Id="Rc3fc9756923042e9" /><ns0:Relationship Type="http://schemas.openxmlformats.org/officeDocument/2006/relationships/slide" Target="/ppt/slides/slide17.xml" Id="R4aa1d6ce9b9247d8" /><ns0:Relationship Type="http://schemas.openxmlformats.org/officeDocument/2006/relationships/slide" Target="/ppt/slides/slide18.xml" Id="R79760858271243bb" /><ns0:Relationship Type="http://schemas.openxmlformats.org/officeDocument/2006/relationships/slide" Target="/ppt/slides/slide19.xml" Id="Rdd08132adad84bb3" /><ns0:Relationship Type="http://schemas.openxmlformats.org/officeDocument/2006/relationships/slide" Target="/ppt/slides/slide20.xml" Id="Re10754e5a16842aa" /><ns0:Relationship Type="http://schemas.openxmlformats.org/officeDocument/2006/relationships/slide" Target="/ppt/slides/slide21.xml" Id="Rbd61948373184375" /><ns0:Relationship Type="http://schemas.openxmlformats.org/officeDocument/2006/relationships/slide" Target="/ppt/slides/slide22.xml" Id="R6737eb0788f343ac" /><ns0:Relationship Id="rIdLicensePage23" Type="http://schemas.openxmlformats.org/officeDocument/2006/relationships/slide" Target="slides/slide23.xml" /></ns0: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0d4e4c2bbf49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40ec5dc5c147d9" /><Relationship Type="http://schemas.openxmlformats.org/officeDocument/2006/relationships/notesMaster" Target="/ppt/notesMasters/notesMaster1.xml" Id="R24b4d2469de140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05a12b65b64ed6" /><Relationship Type="http://schemas.openxmlformats.org/officeDocument/2006/relationships/notesMaster" Target="/ppt/notesMasters/notesMaster1.xml" Id="R14abd4779a454f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31bf8dcd91455f" /><Relationship Type="http://schemas.openxmlformats.org/officeDocument/2006/relationships/notesMaster" Target="/ppt/notesMasters/notesMaster1.xml" Id="R18e7511877dc40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957d79d67646fb" /><Relationship Type="http://schemas.openxmlformats.org/officeDocument/2006/relationships/notesMaster" Target="/ppt/notesMasters/notesMaster1.xml" Id="Re25ff64816d64c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bd648448a84319" /><Relationship Type="http://schemas.openxmlformats.org/officeDocument/2006/relationships/notesMaster" Target="/ppt/notesMasters/notesMaster1.xml" Id="R2a4f5ad00a4c4d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1263db9c874170" /><Relationship Type="http://schemas.openxmlformats.org/officeDocument/2006/relationships/notesMaster" Target="/ppt/notesMasters/notesMaster1.xml" Id="R8a18e1caed9a48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ab6a9a4b9c4de6" /><Relationship Type="http://schemas.openxmlformats.org/officeDocument/2006/relationships/notesMaster" Target="/ppt/notesMasters/notesMaster1.xml" Id="R581e69e9a80a4f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620bc160404696" /><Relationship Type="http://schemas.openxmlformats.org/officeDocument/2006/relationships/notesMaster" Target="/ppt/notesMasters/notesMaster1.xml" Id="R214bc81aeda34b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e5ebe98f9c4354" /><Relationship Type="http://schemas.openxmlformats.org/officeDocument/2006/relationships/notesMaster" Target="/ppt/notesMasters/notesMaster1.xml" Id="Rbc75a66c8ca643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83ae72e0ce4fd0" /><Relationship Type="http://schemas.openxmlformats.org/officeDocument/2006/relationships/notesMaster" Target="/ppt/notesMasters/notesMaster1.xml" Id="R65d3262cb4da47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87212ef18442da" /><Relationship Type="http://schemas.openxmlformats.org/officeDocument/2006/relationships/notesMaster" Target="/ppt/notesMasters/notesMaster1.xml" Id="Rfeaa8376eb854b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1c22cb1d2e4ea9" /><Relationship Type="http://schemas.openxmlformats.org/officeDocument/2006/relationships/notesMaster" Target="/ppt/notesMasters/notesMaster1.xml" Id="Rc526ee5f4b3446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0f741effce74af6" /><Relationship Type="http://schemas.openxmlformats.org/officeDocument/2006/relationships/notesMaster" Target="/ppt/notesMasters/notesMaster1.xml" Id="R134d978af4d6487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4b7ced0cca417f" /><Relationship Type="http://schemas.openxmlformats.org/officeDocument/2006/relationships/notesMaster" Target="/ppt/notesMasters/notesMaster1.xml" Id="Re16d4957be104e6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a16cda463e14a2e" /><Relationship Type="http://schemas.openxmlformats.org/officeDocument/2006/relationships/notesMaster" Target="/ppt/notesMasters/notesMaster1.xml" Id="Rb55a9d4714cb4cf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cd78462c6a242e1" /><Relationship Type="http://schemas.openxmlformats.org/officeDocument/2006/relationships/notesMaster" Target="/ppt/notesMasters/notesMaster1.xml" Id="R70b40011fe0c4e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ccd5c91daa44211" /><Relationship Type="http://schemas.openxmlformats.org/officeDocument/2006/relationships/notesMaster" Target="/ppt/notesMasters/notesMaster1.xml" Id="Rdca365172e5340f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25b616c82d44fe0" /><Relationship Type="http://schemas.openxmlformats.org/officeDocument/2006/relationships/notesMaster" Target="/ppt/notesMasters/notesMaster1.xml" Id="R765f922e07b542a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1b9e4c4cee44aa0" /><Relationship Type="http://schemas.openxmlformats.org/officeDocument/2006/relationships/notesMaster" Target="/ppt/notesMasters/notesMaster1.xml" Id="R38e99b8469a44bc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11dcd03d3f54c11" /><Relationship Type="http://schemas.openxmlformats.org/officeDocument/2006/relationships/notesMaster" Target="/ppt/notesMasters/notesMaster1.xml" Id="Raaa2c79e3602424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156801db5214cce" /><Relationship Type="http://schemas.openxmlformats.org/officeDocument/2006/relationships/notesMaster" Target="/ppt/notesMasters/notesMaster1.xml" Id="R389ab90c5f1f474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34bfb447db741ae" /><Relationship Type="http://schemas.openxmlformats.org/officeDocument/2006/relationships/notesMaster" Target="/ppt/notesMasters/notesMaster1.xml" Id="R43e3dacc79fa4327" /></Relationships>
</file>

<file path=ppt/notesSlides/_rels/notesSlide23.xml.rels><?xml version='1.0' encoding='utf-8'?>
<ns0:Relationships xmlns:ns0="http://schemas.openxmlformats.org/package/2006/relationships"><ns0:Relationship Type="http://schemas.openxmlformats.org/officeDocument/2006/relationships/slide" Target="/ppt/slides/slide23.xml" Id="R734bfb447db741ae" /><ns0:Relationship Type="http://schemas.openxmlformats.org/officeDocument/2006/relationships/notesMaster" Target="/ppt/notesMasters/notesMaster1.xml" Id="R43e3dacc79fa4327" /></ns0: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MiracleHarness：本地可改装的长程项目平台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racleHarness把长程项目的目标、材料、任务和结果留在本地，让人和不同agent围绕同一份记录工作。它是可改装的辅助平台，真正执行的是你选择的agent。今天介绍已经具备的入口、仍在完善的自动化，以及后续可以建设的方向，不把概念图当成运行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状态：现有</a:t>
            </a:r>
          </a:p>
          <a:p xmlns:a="http://schemas.openxmlformats.org/drawingml/2006/main">
            <a:r>
              <a:t>资料核对日期：2026-10-07</a:t>
            </a:r>
          </a:p>
          <a:p xmlns:a="http://schemas.openxmlformats.org/drawingml/2006/main">
            <a:r>
              <a:t>来源（仓库相对路径）：</a:t>
            </a:r>
          </a:p>
          <a:p xmlns:a="http://schemas.openxmlformats.org/drawingml/2006/main">
            <a:r>
              <a:t>• README.md</a:t>
            </a:r>
          </a:p>
          <a:p xmlns:a="http://schemas.openxmlformats.org/drawingml/2006/main">
            <a:r>
              <a:t>• 使用说明.md</a:t>
            </a:r>
          </a:p>
          <a:p xmlns:a="http://schemas.openxmlformats.org/drawingml/2006/main">
            <a:r>
              <a:t>• 技能库/自动化科研交互界面/SKILL.md</a:t>
            </a:r>
          </a:p>
          <a:p xmlns:a="http://schemas.openxmlformats.org/drawingml/2006/main">
            <a:r>
              <a:t>视觉：作者提供的品牌意象或本次生成示意图，不作为软件运行截图。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为什么换软件、换agent后容易漂移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长程项目经常要在聊天、文件、代码和工具之间切换。需求散在旧对话里，结果只留在某个窗口，换一个agent就得重新解释，也容易忘记原来的边界。这里把目标、验收、计划、产物和交接放在可查的文件里，帮助接手者核对现状；它不会自动消除所有理解偏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状态：现有</a:t>
            </a:r>
          </a:p>
          <a:p xmlns:a="http://schemas.openxmlformats.org/drawingml/2006/main">
            <a:r>
              <a:t>资料核对日期：2026-10-07</a:t>
            </a:r>
          </a:p>
          <a:p xmlns:a="http://schemas.openxmlformats.org/drawingml/2006/main">
            <a:r>
              <a:t>来源（仓库相对路径）：</a:t>
            </a:r>
          </a:p>
          <a:p xmlns:a="http://schemas.openxmlformats.org/drawingml/2006/main">
            <a:r>
              <a:t>• 技能库/自动化科研交互界面/SKILL.md</a:t>
            </a:r>
          </a:p>
          <a:p xmlns:a="http://schemas.openxmlformats.org/drawingml/2006/main">
            <a:r>
              <a:t>• 使用说明.md</a:t>
            </a:r>
          </a:p>
          <a:p xmlns:a="http://schemas.openxmlformats.org/drawingml/2006/main">
            <a:r>
              <a:t>视觉：作者提供的品牌意象或本次生成示意图，不作为软件运行截图。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人定方向，agent执行，平台留下记录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的职责是明确方向、授权材料和判断结果；agent负责提出方案、在允许范围内执行并交付。平台把需求、计划、记录和实际状态摆出来，让下一步有据可查。它不替人决定研究结论，也不替缺席的审核者批准。需要改变方向或公开发布时，仍回到人的明确决定。</a:t>
            </a:r>
          </a:p>
          <a:p xmlns:a="http://schemas.openxmlformats.org/drawingml/2006/main">
            <a:r>
              <a:t>作者明确：人的作用是参与需求、蓝图、戒律制定和成果验收；员工均为AI Agent，岗位、客户端和模型分别配置。项目目标是支持所有Agent，现有适配范围不构成品牌限制，也不代表已逐一验证所有Agent。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状态：现有</a:t>
            </a:r>
          </a:p>
          <a:p xmlns:a="http://schemas.openxmlformats.org/drawingml/2006/main">
            <a:r>
              <a:t>资料核对日期：2026-10-07</a:t>
            </a:r>
          </a:p>
          <a:p xmlns:a="http://schemas.openxmlformats.org/drawingml/2006/main">
            <a:r>
              <a:t>来源（仓库相对路径）：</a:t>
            </a:r>
          </a:p>
          <a:p xmlns:a="http://schemas.openxmlformats.org/drawingml/2006/main">
            <a:r>
              <a:t>• AGENTS.md</a:t>
            </a:r>
          </a:p>
          <a:p xmlns:a="http://schemas.openxmlformats.org/drawingml/2006/main">
            <a:r>
              <a:t>• 自动化/协议.md</a:t>
            </a:r>
          </a:p>
          <a:p xmlns:a="http://schemas.openxmlformats.org/drawingml/2006/main">
            <a:r>
              <a:t>• 技能库/自动化科研交互界面/SKILL.md</a:t>
            </a:r>
          </a:p>
          <a:p xmlns:a="http://schemas.openxmlformats.org/drawingml/2006/main">
            <a:r>
              <a:t>视觉：作者提供的品牌意象或本次生成示意图，不作为软件运行截图。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完整工作循环：从想法到交付与复用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图是项目工作的循环：想法经人确认进入蓝图，任务先备料、写计划、独立审核，再执行、自查、交付和验收。计划打回就修计划，交付打回就返工；还有任务便继续，全部达标才谈项目完成。最后留下经验与交接。图中的循环说明组织方法，不代表全自动整链已经跑通。</a:t>
            </a:r>
          </a:p>
          <a:p xmlns:a="http://schemas.openxmlformats.org/drawingml/2006/main">
            <a:r>
              <a:t>本页流程文字均为PPT原生文本框；金玉图标和连线保留image生成底图。人参与需求、蓝图、戒律制定及成果验收。执行者自查后另一Agent独立复验；人的成果验收与全部目标达标分别判断。还有任务回到计划，新想法在项目完成和经验复用后回流。总览包括源代码地图与文件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状态：现有</a:t>
            </a:r>
          </a:p>
          <a:p xmlns:a="http://schemas.openxmlformats.org/drawingml/2006/main">
            <a:r>
              <a:t>资料核对日期：2026-10-07</a:t>
            </a:r>
          </a:p>
          <a:p xmlns:a="http://schemas.openxmlformats.org/drawingml/2006/main">
            <a:r>
              <a:t>来源（仓库相对路径）：</a:t>
            </a:r>
          </a:p>
          <a:p xmlns:a="http://schemas.openxmlformats.org/drawingml/2006/main">
            <a:r>
              <a:t>• 自动化/协议.md</a:t>
            </a:r>
          </a:p>
          <a:p xmlns:a="http://schemas.openxmlformats.org/drawingml/2006/main">
            <a:r>
              <a:t>• 使用说明.md</a:t>
            </a:r>
          </a:p>
          <a:p xmlns:a="http://schemas.openxmlformats.org/drawingml/2006/main">
            <a:r>
              <a:t>• backend/blueprint.py</a:t>
            </a:r>
          </a:p>
          <a:p xmlns:a="http://schemas.openxmlformats.org/drawingml/2006/main">
            <a:r>
              <a:t>视觉：作者提供的品牌意象或本次生成示意图，不作为软件运行截图。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蓝图：先说清需求与验收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在蓝图说清要解决什么、希望看到什么、怎样检查，以及哪些材料可以使用。总目标向下拆成任务，需求可以由一个或多个模块承接，引用保留来源和完整编号。待验收与做完分开显示，上层状态由下层记录汇总；一件任务交了产物，并不意味着整个目标已经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状态：现有</a:t>
            </a:r>
          </a:p>
          <a:p xmlns:a="http://schemas.openxmlformats.org/drawingml/2006/main">
            <a:r>
              <a:t>资料核对日期：2026-10-07</a:t>
            </a:r>
          </a:p>
          <a:p xmlns:a="http://schemas.openxmlformats.org/drawingml/2006/main">
            <a:r>
              <a:t>来源（仓库相对路径）：</a:t>
            </a:r>
          </a:p>
          <a:p xmlns:a="http://schemas.openxmlformats.org/drawingml/2006/main">
            <a:r>
              <a:t>• 使用说明.md</a:t>
            </a:r>
          </a:p>
          <a:p xmlns:a="http://schemas.openxmlformats.org/drawingml/2006/main">
            <a:r>
              <a:t>• backend/blueprint.py</a:t>
            </a:r>
          </a:p>
          <a:p xmlns:a="http://schemas.openxmlformats.org/drawingml/2006/main">
            <a:r>
              <a:t>• backend/requirements.py</a:t>
            </a:r>
          </a:p>
          <a:p xmlns:a="http://schemas.openxmlformats.org/drawingml/2006/main">
            <a:r>
              <a:t>视觉：作者提供的品牌意象或本次生成示意图，不作为软件运行截图。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计划、审核与开工备料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工前把这一件的输入、工具、规则、允许修改的文件和验法写清楚。需要审核时由另一位有权限的员工审当前版本，通过以后再施工；范围改变要重新核对。只读工作包把任务、批准计划、戒律和所选技能放在一起，但读取材料不授予施工权限，核心锁和认领仍然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状态：现有</a:t>
            </a:r>
          </a:p>
          <a:p xmlns:a="http://schemas.openxmlformats.org/drawingml/2006/main">
            <a:r>
              <a:t>资料核对日期：2026-10-07</a:t>
            </a:r>
          </a:p>
          <a:p xmlns:a="http://schemas.openxmlformats.org/drawingml/2006/main">
            <a:r>
              <a:t>来源（仓库相对路径）：</a:t>
            </a:r>
          </a:p>
          <a:p xmlns:a="http://schemas.openxmlformats.org/drawingml/2006/main">
            <a:r>
              <a:t>• 自动化/协议.md</a:t>
            </a:r>
          </a:p>
          <a:p xmlns:a="http://schemas.openxmlformats.org/drawingml/2006/main">
            <a:r>
              <a:t>• backend/construction_plans.py</a:t>
            </a:r>
          </a:p>
          <a:p xmlns:a="http://schemas.openxmlformats.org/drawingml/2006/main">
            <a:r>
              <a:t>• backend/work_packages.py</a:t>
            </a:r>
          </a:p>
          <a:p xmlns:a="http://schemas.openxmlformats.org/drawingml/2006/main">
            <a:r>
              <a:t>视觉：作者提供的品牌意象或本次生成示意图，不作为软件运行截图。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读文件，用统一笔记本与便签记录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件阅读与记录放在同一工作环境。左边叠书进入长期笔记本，右上羽毛笔和纸打开当前页便签；论文精读也复用这套入口，全屏和禅读保留便签。明确记下后才保存人的内容，机器操作与运行日志另行记录。旧文献笔记仍可作为历史文件阅读，不再新建一套专属笔记本。</a:t>
            </a:r>
          </a:p>
          <a:p xmlns:a="http://schemas.openxmlformats.org/drawingml/2006/main">
            <a:r>
              <a:t>边读边想边记：阅读材料，形成问题，在羽毛笔便签中记录，明确保存到统一笔记。便签与笔记本图标不同，文献不另建专属笔记本。格式预览与编辑能力仍依赖具体格式及已装插件。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状态：现有</a:t>
            </a:r>
          </a:p>
          <a:p xmlns:a="http://schemas.openxmlformats.org/drawingml/2006/main">
            <a:r>
              <a:t>资料核对日期：2026-10-07</a:t>
            </a:r>
          </a:p>
          <a:p xmlns:a="http://schemas.openxmlformats.org/drawingml/2006/main">
            <a:r>
              <a:t>来源（仓库相对路径）：</a:t>
            </a:r>
          </a:p>
          <a:p xmlns:a="http://schemas.openxmlformats.org/drawingml/2006/main">
            <a:r>
              <a:t>• 模板.html</a:t>
            </a:r>
          </a:p>
          <a:p xmlns:a="http://schemas.openxmlformats.org/drawingml/2006/main">
            <a:r>
              <a:t>• backend/notebook.py</a:t>
            </a:r>
          </a:p>
          <a:p xmlns:a="http://schemas.openxmlformats.org/drawingml/2006/main">
            <a:r>
              <a:t>• 使用说明.md</a:t>
            </a:r>
          </a:p>
          <a:p xmlns:a="http://schemas.openxmlformats.org/drawingml/2006/main">
            <a:r>
              <a:t>视觉：作者提供的品牌意象或本次生成示意图，不作为软件运行截图。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多agent协作：权限明确，交接可查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多agent协作先确定岗位、工种、负责范围与不碰的区域，同一任务和核心改动有认领与锁。施工者不能审核或验收自己，缺合适岗位就明确等待。离开前留下做了什么、改了哪里、真验了什么、未完成和下一步。下一位先读交接再接任务，而不是凭旧窗口猜测进度。</a:t>
            </a:r>
          </a:p>
          <a:p xmlns:a="http://schemas.openxmlformats.org/drawingml/2006/main">
            <a:r>
              <a:t>岗位不绑定厂商：用户选择Agent客户端和模型。文件和技能可以直接读取；具备MCP能力的客户端可通过统一接口协作。同一员工不能审核自己的计划或验收自己的交付。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状态：现有</a:t>
            </a:r>
          </a:p>
          <a:p xmlns:a="http://schemas.openxmlformats.org/drawingml/2006/main">
            <a:r>
              <a:t>资料核对日期：2026-10-07</a:t>
            </a:r>
          </a:p>
          <a:p xmlns:a="http://schemas.openxmlformats.org/drawingml/2006/main">
            <a:r>
              <a:t>来源（仓库相对路径）：</a:t>
            </a:r>
          </a:p>
          <a:p xmlns:a="http://schemas.openxmlformats.org/drawingml/2006/main">
            <a:r>
              <a:t>• 自动化/协议.md</a:t>
            </a:r>
          </a:p>
          <a:p xmlns:a="http://schemas.openxmlformats.org/drawingml/2006/main">
            <a:r>
              <a:t>• backend/agents.py</a:t>
            </a:r>
          </a:p>
          <a:p xmlns:a="http://schemas.openxmlformats.org/drawingml/2006/main">
            <a:r>
              <a:t>• backend/construction_plans.py</a:t>
            </a:r>
          </a:p>
          <a:p xmlns:a="http://schemas.openxmlformats.org/drawingml/2006/main">
            <a:r>
              <a:t>视觉：作者提供的品牌意象或本次生成示意图，不作为软件运行截图。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任务承接关系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目标明确需求和验收，任务承接需求，模块提供落地位置，产物与检查回到验收。一个需求可由多个模块共同完成；同号记录按来源区分。这里的线表示明确承接，不表示任务依赖、关键路径或自动推测的先后。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状态：协议与治理关系示意；自动启动与连续衔接持续完善。</a:t>
            </a:r>
          </a:p>
          <a:p xmlns:a="http://schemas.openxmlformats.org/drawingml/2006/main">
            <a:r>
              <a:t>核对日期：2026-10-07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治理/目标/</a:t>
            </a:r>
          </a:p>
          <a:p xmlns:a="http://schemas.openxmlformats.org/drawingml/2006/main">
            <a:r>
              <a:t>治理/需求/</a:t>
            </a:r>
          </a:p>
          <a:p xmlns:a="http://schemas.openxmlformats.org/drawingml/2006/main">
            <a:r>
              <a:t>治理/任务/</a:t>
            </a:r>
          </a:p>
          <a:p xmlns:a="http://schemas.openxmlformats.org/drawingml/2006/main">
            <a:r>
              <a:t>backend/governance.py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AI员工如何分工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图中员工均指AI Agent。人参与制定需求、蓝图和戒律，并验收成果；这里以已经定稿的治理信息为前提。规划、审核、干活、验收、带队是岗位；平台任务调度按岗位、范围和权限派活。程序、网页、文档只是工种示例。每位员工的Agent客户端与模型由用户配置，同一岗位可以使用不同组合；并不表示所有客户端均已有自动启动适配。新增治理任务或方向仍需人的定稿。参考Edict的分权、审核、派活思想，保留本项目岗位与权限体系，没有移植其整套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状态：协议与治理关系示意；自动启动与连续衔接持续完善。</a:t>
            </a:r>
          </a:p>
          <a:p xmlns:a="http://schemas.openxmlformats.org/drawingml/2006/main">
            <a:r>
              <a:t>核对日期：2026-10-07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自动化/协议.md</a:t>
            </a:r>
          </a:p>
          <a:p xmlns:a="http://schemas.openxmlformats.org/drawingml/2006/main">
            <a:r>
              <a:t>工具库/开源项目/O14 edict.md</a:t>
            </a:r>
          </a:p>
          <a:p xmlns:a="http://schemas.openxmlformats.org/drawingml/2006/main">
            <a:r>
              <a:t>backend/agents.py</a:t>
            </a:r>
          </a:p>
          <a:p xmlns:a="http://schemas.openxmlformats.org/drawingml/2006/main">
            <a:r>
              <a:t>https://github.com/cft0808/edict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计划审核与交付流转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执行Agent提交施工计划，另一位有审核权限的Agent审核，通过后按范围施工。执行者自查并交付，由另一位有验收权限的Agent独立复验。打回后修改计划或返工，改变文件范围后重新审计划。执行者不得自审自验；审核者与验收者可以是同一个符合权限的其他员工。独立复验通过与人验收项目成果分别记录；不要求每件普通任务都额外等人批准。还有任务则继续下一件，方向与授权问题回到人参与。该图是协议示意，真实连续自动联动仍需完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状态：协议与治理关系示意；自动启动与连续衔接持续完善。</a:t>
            </a:r>
          </a:p>
          <a:p xmlns:a="http://schemas.openxmlformats.org/drawingml/2006/main">
            <a:r>
              <a:t>核对日期：2026-10-07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自动化/协议.md</a:t>
            </a:r>
          </a:p>
          <a:p xmlns:a="http://schemas.openxmlformats.org/drawingml/2006/main">
            <a:r>
              <a:t>backend/construction_plans.py</a:t>
            </a:r>
          </a:p>
          <a:p xmlns:a="http://schemas.openxmlformats.org/drawingml/2006/main">
            <a:r>
              <a:t>backend/deliveries.py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自动化：状态可见，完整闭环仍在完善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动化页面显示真实任务、员工、计划、等待原因、窗口和交付。允许开工只是许可，不等于员工正在运行；现有外层运行器在条件满足时启动明确开启的Codex员工，等审核或锁时结束模型轮次。真实连续两件开发闭环仍有未验证记录，因此这里展示已有状态和接续机制，不承诺全面无人值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状态：完善中</a:t>
            </a:r>
          </a:p>
          <a:p xmlns:a="http://schemas.openxmlformats.org/drawingml/2006/main">
            <a:r>
              <a:t>资料核对日期：2026-10-07</a:t>
            </a:r>
          </a:p>
          <a:p xmlns:a="http://schemas.openxmlformats.org/drawingml/2006/main">
            <a:r>
              <a:t>来源（仓库相对路径）：</a:t>
            </a:r>
          </a:p>
          <a:p xmlns:a="http://schemas.openxmlformats.org/drawingml/2006/main">
            <a:r>
              <a:t>• backend/autolaunch.py</a:t>
            </a:r>
          </a:p>
          <a:p xmlns:a="http://schemas.openxmlformats.org/drawingml/2006/main">
            <a:r>
              <a:t>• 自动化/协议.md</a:t>
            </a:r>
          </a:p>
          <a:p xmlns:a="http://schemas.openxmlformats.org/drawingml/2006/main">
            <a:r>
              <a:t>• 自动化/交付/J107 S1-1 S2-30.md</a:t>
            </a:r>
          </a:p>
          <a:p xmlns:a="http://schemas.openxmlformats.org/drawingml/2006/main">
            <a:r>
              <a:t>视觉：作者提供的品牌意象或本次生成示意图，不作为软件运行截图。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存档、分枝Demo与受控合并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存档留下文件指纹和可恢复的副本；需要试方向时，可从存档分出独立项目副本，各自制作Demo，再比较改动。合并按三方对照处理，冲突保留原文件和待处理材料，合前合后存档。已有机制与演示记录，但两个真实员工并行比较后合并的完整试跑仍未验证，不能称作全部自动跑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状态：完善中</a:t>
            </a:r>
          </a:p>
          <a:p xmlns:a="http://schemas.openxmlformats.org/drawingml/2006/main">
            <a:r>
              <a:t>资料核对日期：2026-10-07</a:t>
            </a:r>
          </a:p>
          <a:p xmlns:a="http://schemas.openxmlformats.org/drawingml/2006/main">
            <a:r>
              <a:t>来源（仓库相对路径）：</a:t>
            </a:r>
          </a:p>
          <a:p xmlns:a="http://schemas.openxmlformats.org/drawingml/2006/main">
            <a:r>
              <a:t>• backend/snapshot.py</a:t>
            </a:r>
          </a:p>
          <a:p xmlns:a="http://schemas.openxmlformats.org/drawingml/2006/main">
            <a:r>
              <a:t>• backend/worldtree.py</a:t>
            </a:r>
          </a:p>
          <a:p xmlns:a="http://schemas.openxmlformats.org/drawingml/2006/main">
            <a:r>
              <a:t>• 自动化/交付/J95 S1-8 S2-58.md</a:t>
            </a:r>
          </a:p>
          <a:p xmlns:a="http://schemas.openxmlformats.org/drawingml/2006/main">
            <a:r>
              <a:t>视觉：作者提供的品牌意象或本次生成示意图，不作为软件运行截图。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流程与日志：留下可复查的做法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做熟的步骤可以保存为工作流，运行日志逐轮写下结果和下一步，供以后核对与接手。流程草稿、校验、只读演练和启用分开，保存不等于已经运行；启用仍受权限与停止条件约束。成功经验可以由人和agent整理复用，目前不能说系统会自动把所有成功日志提炼成可靠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状态：现有</a:t>
            </a:r>
          </a:p>
          <a:p xmlns:a="http://schemas.openxmlformats.org/drawingml/2006/main">
            <a:r>
              <a:t>资料核对日期：2026-10-07</a:t>
            </a:r>
          </a:p>
          <a:p xmlns:a="http://schemas.openxmlformats.org/drawingml/2006/main">
            <a:r>
              <a:t>来源（仓库相对路径）：</a:t>
            </a:r>
          </a:p>
          <a:p xmlns:a="http://schemas.openxmlformats.org/drawingml/2006/main">
            <a:r>
              <a:t>• backend/runs.py</a:t>
            </a:r>
          </a:p>
          <a:p xmlns:a="http://schemas.openxmlformats.org/drawingml/2006/main">
            <a:r>
              <a:t>• backend/workflow_graph.py</a:t>
            </a:r>
          </a:p>
          <a:p xmlns:a="http://schemas.openxmlformats.org/drawingml/2006/main">
            <a:r>
              <a:t>• 使用说明.md</a:t>
            </a:r>
          </a:p>
          <a:p xmlns:a="http://schemas.openxmlformats.org/drawingml/2006/main">
            <a:r>
              <a:t>视觉：作者提供的品牌意象或本次生成示意图，不作为软件运行截图。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通用能力、固定内容与业务模板的关系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图讲的是关系。通用能力支撑治理、材料、工具技能、协作与演进；固定区保留想法、蓝图、戒律，以及源代码、测试、文献、论文。科研、小说、剪辑、PPT和DIY承接自己的内容，按需要选方法。绿色与金色区表示固定内容，紫色表示业务组合；内置科研方法不等于完整业务已经自动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状态：现有</a:t>
            </a:r>
          </a:p>
          <a:p xmlns:a="http://schemas.openxmlformats.org/drawingml/2006/main">
            <a:r>
              <a:t>资料核对日期：2026-10-07</a:t>
            </a:r>
          </a:p>
          <a:p xmlns:a="http://schemas.openxmlformats.org/drawingml/2006/main">
            <a:r>
              <a:t>来源（仓库相对路径）：</a:t>
            </a:r>
          </a:p>
          <a:p xmlns:a="http://schemas.openxmlformats.org/drawingml/2006/main">
            <a:r>
              <a:t>• backend/project.py</a:t>
            </a:r>
          </a:p>
          <a:p xmlns:a="http://schemas.openxmlformats.org/drawingml/2006/main">
            <a:r>
              <a:t>• backend/template_profiles.json</a:t>
            </a:r>
          </a:p>
          <a:p xmlns:a="http://schemas.openxmlformats.org/drawingml/2006/main">
            <a:r>
              <a:t>• 模板.html</a:t>
            </a:r>
          </a:p>
          <a:p xmlns:a="http://schemas.openxmlformats.org/drawingml/2006/main">
            <a:r>
              <a:t>视觉：作者提供的品牌意象或本次生成示意图，不作为软件运行截图。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科研、小说、剪辑与PPT的内置方法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置方法按阶段帮助agent判断下一步。科研从选题走到投稿返修，小说涵盖设定、正文与独立首读，剪辑从素材探测走到导出。当前模板声明93个默认方法，含82个ARIS、9个科研阶段、PPT与去防御性写作各一个；小说和剪辑另有方法目录。文字内置不等于软件已安装或业务已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状态：现有</a:t>
            </a:r>
          </a:p>
          <a:p xmlns:a="http://schemas.openxmlformats.org/drawingml/2006/main">
            <a:r>
              <a:t>资料核对日期：2026-10-07</a:t>
            </a:r>
          </a:p>
          <a:p xmlns:a="http://schemas.openxmlformats.org/drawingml/2006/main">
            <a:r>
              <a:t>来源（仓库相对路径）：</a:t>
            </a:r>
          </a:p>
          <a:p xmlns:a="http://schemas.openxmlformats.org/drawingml/2006/main">
            <a:r>
              <a:t>• backend/template_profiles.json</a:t>
            </a:r>
          </a:p>
          <a:p xmlns:a="http://schemas.openxmlformats.org/drawingml/2006/main">
            <a:r>
              <a:t>• 技能库/业务/manifest.json</a:t>
            </a:r>
          </a:p>
          <a:p xmlns:a="http://schemas.openxmlformats.org/drawingml/2006/main">
            <a:r>
              <a:t>• 资料/PPT/技能/SKILL.md</a:t>
            </a:r>
          </a:p>
          <a:p xmlns:a="http://schemas.openxmlformats.org/drawingml/2006/main">
            <a:r>
              <a:t>视觉：作者提供的品牌意象或本次生成示意图，不作为软件运行截图。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DIY：新项目带方法，不自动带走私有材料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项目从干净骨架开始，固定模块与通用内置带上，业务模块可在自定义弹窗里选择。选中业务只继承声明的内置与技能，当前正文、数据、笔记和运行日志不会自动复制。你也可以建立自己的DIY模块。需要额外材料时明确勾选，复制清单记录实际带走什么，安装与账户仍由新环境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状态：现有</a:t>
            </a:r>
          </a:p>
          <a:p xmlns:a="http://schemas.openxmlformats.org/drawingml/2006/main">
            <a:r>
              <a:t>资料核对日期：2026-10-07</a:t>
            </a:r>
          </a:p>
          <a:p xmlns:a="http://schemas.openxmlformats.org/drawingml/2006/main">
            <a:r>
              <a:t>来源（仓库相对路径）：</a:t>
            </a:r>
          </a:p>
          <a:p xmlns:a="http://schemas.openxmlformats.org/drawingml/2006/main">
            <a:r>
              <a:t>• backend/new_project.py</a:t>
            </a:r>
          </a:p>
          <a:p xmlns:a="http://schemas.openxmlformats.org/drawingml/2006/main">
            <a:r>
              <a:t>• 新项目内置.md</a:t>
            </a:r>
          </a:p>
          <a:p xmlns:a="http://schemas.openxmlformats.org/drawingml/2006/main">
            <a:r>
              <a:t>• 使用说明.md</a:t>
            </a:r>
          </a:p>
          <a:p xmlns:a="http://schemas.openxmlformats.org/drawingml/2006/main">
            <a:r>
              <a:t>视觉：作者提供的品牌意象或本次生成示意图，不作为软件运行截图。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工具、插件与文件适配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网页可阅读普通文字、PDF、图片、音视频和常用Office文件，agent与网页围绕同一份材料工作。客户端可以配置MCP，也可直接读项目文件；工具、账号和插件仍须实际配置，指南不代表已经连接。PPT原版预览需要对应软件，剪辑已有本地协议，网页剪辑器仍在完善，不把入口图标当作执行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状态：完善中</a:t>
            </a:r>
          </a:p>
          <a:p xmlns:a="http://schemas.openxmlformats.org/drawingml/2006/main">
            <a:r>
              <a:t>资料核对日期：2026-10-07</a:t>
            </a:r>
          </a:p>
          <a:p xmlns:a="http://schemas.openxmlformats.org/drawingml/2006/main">
            <a:r>
              <a:t>来源（仓库相对路径）：</a:t>
            </a:r>
          </a:p>
          <a:p xmlns:a="http://schemas.openxmlformats.org/drawingml/2006/main">
            <a:r>
              <a:t>• backend/office.py</a:t>
            </a:r>
          </a:p>
          <a:p xmlns:a="http://schemas.openxmlformats.org/drawingml/2006/main">
            <a:r>
              <a:t>• 工具库/内置/安装指南/从这里开始.md</a:t>
            </a:r>
          </a:p>
          <a:p xmlns:a="http://schemas.openxmlformats.org/drawingml/2006/main">
            <a:r>
              <a:t>• 工具库/内置/安装指南/Agent接入.md</a:t>
            </a:r>
          </a:p>
          <a:p xmlns:a="http://schemas.openxmlformats.org/drawingml/2006/main">
            <a:r>
              <a:t>视觉：作者提供的品牌意象或本次生成示意图，不作为软件运行截图。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未来机会：操作记录、数据与合作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、交付和运行记录，未来有机会帮助发现常见卡点、评价工作方法，并支持经过授权的研究与合作。这是建设设想，不是已经上线的数据业务。项目材料和人的笔记不能因有记录就拿去共享；用途、范围、授权与许可需要另行明确。本地保留记录是现有基础，合作机制仍待设计与验证。</a:t>
            </a:r>
          </a:p>
          <a:p xmlns:a="http://schemas.openxmlformats.org/drawingml/2006/main">
            <a:r>
              <a:t>作者提出未来将好的成果操作数据提供给模型公司，帮助提升长程任务能力。这里是潜在合作方向，尚无交易、买方或收入事实。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状态：愿景</a:t>
            </a:r>
          </a:p>
          <a:p xmlns:a="http://schemas.openxmlformats.org/drawingml/2006/main">
            <a:r>
              <a:t>资料核对日期：2026-10-07</a:t>
            </a:r>
          </a:p>
          <a:p xmlns:a="http://schemas.openxmlformats.org/drawingml/2006/main">
            <a:r>
              <a:t>来源（仓库相对路径）：</a:t>
            </a:r>
          </a:p>
          <a:p xmlns:a="http://schemas.openxmlformats.org/drawingml/2006/main">
            <a:r>
              <a:t>• backend/store.py</a:t>
            </a:r>
          </a:p>
          <a:p xmlns:a="http://schemas.openxmlformats.org/drawingml/2006/main">
            <a:r>
              <a:t>• backend/runs.py</a:t>
            </a:r>
          </a:p>
          <a:p xmlns:a="http://schemas.openxmlformats.org/drawingml/2006/main">
            <a:r>
              <a:t>• README.md</a:t>
            </a:r>
          </a:p>
          <a:p xmlns:a="http://schemas.openxmlformats.org/drawingml/2006/main">
            <a:r>
              <a:t>视觉：作者提供的品牌意象或本次生成示意图，不作为软件运行截图。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未来建设：先可靠，再扩展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步先把基础链路做可靠：真实员工按任务开工、等待、恢复、交付和验收都留下可核记录，再验证连续任务与并行Demo的完整过程。随后才扩大客户端适配、业务流程和协作规模。测试和概念图不能替代真实使用；未来功能仍按目标、计划、授权和验法推进，不把方向提前写成已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状态：愿景</a:t>
            </a:r>
          </a:p>
          <a:p xmlns:a="http://schemas.openxmlformats.org/drawingml/2006/main">
            <a:r>
              <a:t>资料核对日期：2026-10-07</a:t>
            </a:r>
          </a:p>
          <a:p xmlns:a="http://schemas.openxmlformats.org/drawingml/2006/main">
            <a:r>
              <a:t>来源（仓库相对路径）：</a:t>
            </a:r>
          </a:p>
          <a:p xmlns:a="http://schemas.openxmlformats.org/drawingml/2006/main">
            <a:r>
              <a:t>• README.md</a:t>
            </a:r>
          </a:p>
          <a:p xmlns:a="http://schemas.openxmlformats.org/drawingml/2006/main">
            <a:r>
              <a:t>• 自动化/交付/J107 S1-1 S2-30.md</a:t>
            </a:r>
          </a:p>
          <a:p xmlns:a="http://schemas.openxmlformats.org/drawingml/2006/main">
            <a:r>
              <a:t>• 自动化/交付/J95 S1-8 S2-58.md</a:t>
            </a:r>
          </a:p>
          <a:p xmlns:a="http://schemas.openxmlformats.org/drawingml/2006/main">
            <a:r>
              <a:t>视觉：作者提供的品牌意象或本次生成示意图，不作为软件运行截图。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项目结束，经验还能留下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结束时，交付物只是其中一部分。目标与决定、检查结果、未验证的边界、日志和交接，能让下一位知道这条路为什么这样走。成熟做法可以整理成技能或流程，再按新任务核对输入与权限。普通文件让经验可带走；留下经验是今天可做的事，自动提炼与广泛复用仍需要继续建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状态：现有</a:t>
            </a:r>
          </a:p>
          <a:p xmlns:a="http://schemas.openxmlformats.org/drawingml/2006/main">
            <a:r>
              <a:t>资料核对日期：2026-10-07</a:t>
            </a:r>
          </a:p>
          <a:p xmlns:a="http://schemas.openxmlformats.org/drawingml/2006/main">
            <a:r>
              <a:t>来源（仓库相对路径）：</a:t>
            </a:r>
          </a:p>
          <a:p xmlns:a="http://schemas.openxmlformats.org/drawingml/2006/main">
            <a:r>
              <a:t>• 技能库/自动化科研交互界面/SKILL.md</a:t>
            </a:r>
          </a:p>
          <a:p xmlns:a="http://schemas.openxmlformats.org/drawingml/2006/main">
            <a:r>
              <a:t>• backend/runs.py</a:t>
            </a:r>
          </a:p>
          <a:p xmlns:a="http://schemas.openxmlformats.org/drawingml/2006/main">
            <a:r>
              <a:t>• README.md</a:t>
            </a:r>
          </a:p>
          <a:p xmlns:a="http://schemas.openxmlformats.org/drawingml/2006/main">
            <a:r>
              <a:t>视觉：作者提供的品牌意象或本次生成示意图，不作为软件运行截图。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项目入口与联系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 地址是作者的官网与留言板项目仓库，网站是 MiracleHarness 的公开介绍入口。电话、邮箱和微信二维码由作者主动提供，用于项目介绍和联系。GitHub 仓库、官网、电话与邮箱均为可编辑文字，并设置对应链接。微信二维码直接嵌入作者原图，保留黑白码区和留白，未重绘。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作者本次提供的四项联系信息与微信二维码原图</a:t>
            </a:r>
          </a:p>
          <a:p xmlns:a="http://schemas.openxmlformats.org/drawingml/2006/main">
            <a:r>
              <a:t>https://github.com/tmdysx/miracle-harness-site</a:t>
            </a:r>
          </a:p>
          <a:p xmlns:a="http://schemas.openxmlformats.org/drawingml/2006/main">
            <a:r>
              <a:t>https://miracleharness.com/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原创部分采用 PolyForm Noncommercial 1.0.0：个人学习、非商业研究可依条款免费使用；商业用途需作者另行书面授权。商业授权联系邮箱：3129746403@qq.com。第三方部分仍按其各自许可证授权，完整文本见 LICENSE 与 NOTICE。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b8c4dd1bb346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b39a4aa9da4326" /><Relationship Type="http://schemas.openxmlformats.org/officeDocument/2006/relationships/slideLayout" Target="/ppt/slideLayouts/slideLayout1.xml" Id="Rf6c8b763e09b44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c8b763e09b44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cbd6b9ae74697" /><Relationship Type="http://schemas.openxmlformats.org/officeDocument/2006/relationships/image" Target="/ppt/media/image.jpeg" Id="Rf2a5bc17255f41cd" /><Relationship Type="http://schemas.openxmlformats.org/officeDocument/2006/relationships/notesSlide" Target="/ppt/notesSlides/notesSlide1.xml" Id="R79ccb29404ee49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23438a27f4049" /><Relationship Type="http://schemas.openxmlformats.org/officeDocument/2006/relationships/notesSlide" Target="/ppt/notesSlides/notesSlide2.xml" Id="Rff469140ae0842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b244a82334de3" /><Relationship Type="http://schemas.openxmlformats.org/officeDocument/2006/relationships/notesSlide" Target="/ppt/notesSlides/notesSlide3.xml" Id="Rb28cb90701b24c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412100bb24d66" /><Relationship Type="http://schemas.openxmlformats.org/officeDocument/2006/relationships/image" Target="/ppt/media/image2.jpeg" Id="Rd950369db9c34c27" /><Relationship Type="http://schemas.openxmlformats.org/officeDocument/2006/relationships/notesSlide" Target="/ppt/notesSlides/notesSlide4.xml" Id="R1e3e4baa6a2046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d0829a056436d" /><Relationship Type="http://schemas.openxmlformats.org/officeDocument/2006/relationships/image" Target="/ppt/media/image3.jpeg" Id="R54b633c427cb4d4a" /><Relationship Type="http://schemas.openxmlformats.org/officeDocument/2006/relationships/notesSlide" Target="/ppt/notesSlides/notesSlide5.xml" Id="R8fa91df441c64c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05658bbaa4aed" /><Relationship Type="http://schemas.openxmlformats.org/officeDocument/2006/relationships/notesSlide" Target="/ppt/notesSlides/notesSlide6.xml" Id="R2caf6b6683f94e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acd2b8f784051" /><Relationship Type="http://schemas.openxmlformats.org/officeDocument/2006/relationships/image" Target="/ppt/media/image4.jpeg" Id="Reb7707117b8e4c89" /><Relationship Type="http://schemas.openxmlformats.org/officeDocument/2006/relationships/notesSlide" Target="/ppt/notesSlides/notesSlide7.xml" Id="Re2ac549d202346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bd3fa1a1941d7" /><Relationship Type="http://schemas.openxmlformats.org/officeDocument/2006/relationships/notesSlide" Target="/ppt/notesSlides/notesSlide8.xml" Id="Raf838b5f9ab842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3955a752c48d1" /><Relationship Type="http://schemas.openxmlformats.org/officeDocument/2006/relationships/image" Target="/ppt/media/image5.jpeg" Id="R31fea0c395144f13" /><Relationship Type="http://schemas.openxmlformats.org/officeDocument/2006/relationships/notesSlide" Target="/ppt/notesSlides/notesSlide9.xml" Id="R5dd8f1652ed848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904c0446e4012" /><Relationship Type="http://schemas.openxmlformats.org/officeDocument/2006/relationships/image" Target="/ppt/media/image6.jpeg" Id="R5196a472eeb548ca" /><Relationship Type="http://schemas.openxmlformats.org/officeDocument/2006/relationships/notesSlide" Target="/ppt/notesSlides/notesSlide10.xml" Id="Rf6500455b10c47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3fd80cde54a76" /><Relationship Type="http://schemas.openxmlformats.org/officeDocument/2006/relationships/image" Target="/ppt/media/image7.jpeg" Id="R577836ab5b434adf" /><Relationship Type="http://schemas.openxmlformats.org/officeDocument/2006/relationships/notesSlide" Target="/ppt/notesSlides/notesSlide11.xml" Id="R67af24d4350345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789812d434f09" /><Relationship Type="http://schemas.openxmlformats.org/officeDocument/2006/relationships/notesSlide" Target="/ppt/notesSlides/notesSlide12.xml" Id="Rd88d11490df548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68c3c37cf420c" /><Relationship Type="http://schemas.openxmlformats.org/officeDocument/2006/relationships/image" Target="/ppt/media/image8.jpeg" Id="R786c3961251f4a98" /><Relationship Type="http://schemas.openxmlformats.org/officeDocument/2006/relationships/notesSlide" Target="/ppt/notesSlides/notesSlide13.xml" Id="R6d3a653ba91f43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cc96578804ea3" /><Relationship Type="http://schemas.openxmlformats.org/officeDocument/2006/relationships/notesSlide" Target="/ppt/notesSlides/notesSlide14.xml" Id="Rea3861de101f4e9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4442cf8674779" /><Relationship Type="http://schemas.openxmlformats.org/officeDocument/2006/relationships/image" Target="/ppt/media/image9.jpeg" Id="R786bd54017e94f35" /><Relationship Type="http://schemas.openxmlformats.org/officeDocument/2006/relationships/notesSlide" Target="/ppt/notesSlides/notesSlide15.xml" Id="R846161210cac411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8c7363a6842c5" /><Relationship Type="http://schemas.openxmlformats.org/officeDocument/2006/relationships/notesSlide" Target="/ppt/notesSlides/notesSlide16.xml" Id="R74cfe0606f934c6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6140015544594" /><Relationship Type="http://schemas.openxmlformats.org/officeDocument/2006/relationships/notesSlide" Target="/ppt/notesSlides/notesSlide17.xml" Id="R0966765b7f2b450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e3b3a42d54847" /><Relationship Type="http://schemas.openxmlformats.org/officeDocument/2006/relationships/image" Target="/ppt/media/image10.jpeg" Id="Rce94da03309d41e6" /><Relationship Type="http://schemas.openxmlformats.org/officeDocument/2006/relationships/notesSlide" Target="/ppt/notesSlides/notesSlide18.xml" Id="Rcfef97a6a28c499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d74d07cec4e50" /><Relationship Type="http://schemas.openxmlformats.org/officeDocument/2006/relationships/notesSlide" Target="/ppt/notesSlides/notesSlide19.xml" Id="R80d2c3d6fe7041e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5b4506e514703" /><Relationship Type="http://schemas.openxmlformats.org/officeDocument/2006/relationships/notesSlide" Target="/ppt/notesSlides/notesSlide20.xml" Id="R90745fb2e253400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1c7908a764a3e" /><Relationship Type="http://schemas.openxmlformats.org/officeDocument/2006/relationships/image" Target="/ppt/media/image.png" Id="Ra6658bcef2924fba" /><Relationship Type="http://schemas.openxmlformats.org/officeDocument/2006/relationships/notesSlide" Target="/ppt/notesSlides/notesSlide21.xml" Id="R2221210806e74fae" /></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2b4364003ec4ecd" /><ns0:Relationship Type="http://schemas.openxmlformats.org/officeDocument/2006/relationships/image" Target="/ppt/media/image11.jpeg" Id="R14409ddac32b4a6b" /><ns0:Relationship Type="http://schemas.openxmlformats.org/officeDocument/2006/relationships/notesSlide" Target="/ppt/notesSlides/notesSlide22.xml" Id="R18fd142a497f4144" /><ns0:Relationship Id="rIdContact1" Type="http://schemas.openxmlformats.org/officeDocument/2006/relationships/hyperlink" Target="https://github.com/tmdysx/miracle-harness-site" TargetMode="External" /><ns0:Relationship Id="rIdContact2" Type="http://schemas.openxmlformats.org/officeDocument/2006/relationships/hyperlink" Target="https://miracleharness.com/" TargetMode="External" /><ns0:Relationship Id="rIdContact3" Type="http://schemas.openxmlformats.org/officeDocument/2006/relationships/hyperlink" Target="tel:+8618977336431" TargetMode="External" /><ns0:Relationship Id="rIdContact4" Type="http://schemas.openxmlformats.org/officeDocument/2006/relationships/hyperlink" Target="mailto:3129746403@qq.com" TargetMode="External" /></ns0:Relationships>
</file>

<file path=ppt/slides/_rels/slide2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2b4364003ec4ecd" /><ns0:Relationship Type="http://schemas.openxmlformats.org/officeDocument/2006/relationships/notesSlide" Target="/ppt/notesSlides/notesSlide23.xml" Id="R18fd142a497f4144" /><ns0:Relationship Id="rIdContact4" Type="http://schemas.openxmlformats.org/officeDocument/2006/relationships/hyperlink" Target="mailto:3129746403@qq.com" TargetMode="External" /></ns0: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5bc17255f41c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08E95-1741-4866-B680-22C78DF2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14375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MIRACLEHARNESS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EDF21-9BAB-4A03-BD54-F582A504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43075"/>
            <a:ext cx="70008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让长程工作</a:t>
            </a:r>
          </a:p>
          <a:p xmlns:a="http://schemas.openxmlformats.org/drawingml/2006/main">
            <a:pPr algn="l">
              <a:defRPr sz="450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有方向，也有记忆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0736A-8024-4FC7-9E62-7D1D43BD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本地 · 面向各种 Agent · 自由改装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BBC63-C0CA-4C1B-82E7-8AF2A256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项目功能与未来展望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3C6D5-C1A3-4226-BFB9-E4328DC3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4476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2026.10  /  产品介绍</a:t>
            </a:r>
          </a:p>
        </p:txBody>
      </p:sp>
    </p:spTree>
    <p:extLst>
      <p:ext uri="{BB962C8B-B14F-4D97-AF65-F5344CB8AC3E}">
        <p14:creationId xmlns:p14="http://schemas.microsoft.com/office/powerpoint/2010/main" val="2916472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83BAA-377F-4564-B1D9-B3347259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01  /  为什么做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06B25-A7E6-44D1-A848-5A0E9C0B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8100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现有基础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4AA96-C91B-4467-A393-4EC10217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让项目上下文，跟着工作一起走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6D6E0-9E3D-4EF4-B2E3-D7AFDE69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MIRACLEHARNESS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AA795-0415-4DE9-87C1-E5F2AE35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817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02 / 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955E5-8659-43CF-B3C4-B607B934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1BDDF-C66F-4E12-9B2F-DDD10F61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来回切换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1FEBC-B44D-49E8-930C-23564550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聊天、文档、代码、工具</a:t>
            </a:r>
          </a:p>
          <a:p xmlns:a="http://schemas.openxmlformats.org/drawingml/2006/main">
            <a:pPr algn="l">
              <a:defRPr sz="20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分散在不同入口。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BE84F-8BB6-4446-9153-A43A19C7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88DAB-74AD-42A9-9843-532D1C9A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67075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长程漂移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C1FEE-D79C-4078-9CBA-034DDD12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5287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对话越来越长，</a:t>
            </a:r>
          </a:p>
          <a:p xmlns:a="http://schemas.openxmlformats.org/drawingml/2006/main">
            <a:pPr algn="l">
              <a:defRPr sz="20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最初的目标却越来越模糊。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729B68-3185-494D-929B-ACFCAEBD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DE2D9-CB53-4FF5-9ECB-DFB985B2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67075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换人重来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9909A8-A10F-4656-ABCC-87CD15A9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5287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换一个 agent，</a:t>
            </a:r>
          </a:p>
          <a:p xmlns:a="http://schemas.openxmlformats.org/drawingml/2006/main">
            <a:pPr algn="l">
              <a:defRPr sz="20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又要解释进度和决定。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FAC0C3-9BBB-405B-8B3F-73EF73DD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把目标、材料、进度与验收留在同一个可持续接手的项目里。</a:t>
            </a:r>
          </a:p>
        </p:txBody>
      </p:sp>
    </p:spTree>
    <p:extLst>
      <p:ext uri="{BB962C8B-B14F-4D97-AF65-F5344CB8AC3E}">
        <p14:creationId xmlns:p14="http://schemas.microsoft.com/office/powerpoint/2010/main" val="9867201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E55CF-4920-4D6D-9B11-A5904AB2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02  /  核心分工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EC9FF-D401-4C35-9439-4432077C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8100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现有基础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E1CC7-587F-4233-8EBB-3F4CC05F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人定方向，Agent 干活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D0B72-E66B-416B-8ADD-298B74AD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MIRACLEHARNESS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904C4-BD15-4980-B1A5-50D6B9DC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817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03 / 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47328-AEFB-4849-A38E-C107ED63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943225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方向 · 行动 · 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8DA41-2EEB-410A-96B8-EB3F37AF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98145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共用一份项目上下文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731EA-3583-4674-98A8-203E028A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人：参与制定，验收成果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BD0BA-9888-4BBB-9ACC-5D7D1D7B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552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参与需求、蓝图和戒律制定，</a:t>
            </a:r>
          </a:p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验收最终交付的成果。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7A347-2C36-4101-B175-9F003D74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Agent：按岗位协作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E4E3C-3D06-4648-8BCF-038FCF6D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52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规划、审核、施工与独立复验；</a:t>
            </a:r>
          </a:p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客户端和模型由用户配置。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306C7-1D70-4DB0-ADEC-72F926A9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平台：组织信息、展示状态、保留记录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141DE-5783-4A68-A2B6-B6C5EA5F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目标是支持各种 Agent：共用本地文件、通用技能与协作协议，可通过 MCP 接入。</a:t>
            </a:r>
          </a:p>
        </p:txBody>
      </p:sp>
    </p:spTree>
    <p:extLst>
      <p:ext uri="{BB962C8B-B14F-4D97-AF65-F5344CB8AC3E}">
        <p14:creationId xmlns:p14="http://schemas.microsoft.com/office/powerpoint/2010/main" val="17517594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0369db9c34c27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D66A2-9BA6-4E82-9484-23ACAB54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"/>
            <a:ext cx="830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MiracleHarness 项目工作循环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690E3-97E7-46D6-905D-952DA0B5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"/>
            <a:ext cx="822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人参与需求、蓝图、戒律制定，并验收成果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1CF30-9495-4094-8671-E79F6F55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2009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想法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FF6D5-4CFB-4494-A77E-B7A665A4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095500"/>
            <a:ext cx="2009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蓝图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65F7B-85F4-4E0E-9FC6-AE62B860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任务与计划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41213-644B-4C87-8D73-A7C584A9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09825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需求 · 戒律 · 验收标准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FA22A-4453-4E39-A2B1-2DBAE83E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24275"/>
            <a:ext cx="2009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7B39E8-EC25-4E83-BC8C-8B62E1ED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24275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执行与自查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40000-ADD5-46C5-B3D0-2821E36F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242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计划审核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ACD84-8DBD-44BC-857D-219C1E50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57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按授权自动推进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F0DA4-5448-49FD-BF81-1CF6CDF3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14950"/>
            <a:ext cx="1847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  <a:p xmlns:a="http://schemas.openxmlformats.org/drawingml/2006/main">
            <a:pPr algn="ctr">
              <a:defRPr sz="16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独立复验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66C92-E757-4961-AE1D-E9B9AC54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381625"/>
            <a:ext cx="2162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人验收成果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D95FD-EFD1-4058-BE89-B81FBBDE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14950"/>
            <a:ext cx="1866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项目完成</a:t>
            </a:r>
          </a:p>
          <a:p xmlns:a="http://schemas.openxmlformats.org/drawingml/2006/main">
            <a:pPr algn="ctr">
              <a:defRPr sz="1725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经验复用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E42EFB-4F46-46C5-9769-9D230149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291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复验通过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594B4C-88B8-4644-B915-67201374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629150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全部目标达标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B0E0EA-7BAF-4CB1-8EF0-079D8A0F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190750"/>
            <a:ext cx="72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打回修改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413513-168E-4ACD-B74B-3957080E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029075"/>
            <a:ext cx="657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返工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0DDCE4-E205-4777-9F3C-8D9479B7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36232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新想法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5B61AB-49E6-4607-974C-1DE14D5F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657225"/>
            <a:ext cx="1914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总览可视化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26A8BF-8C6D-4C29-B916-997645B7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48590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蓝图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9263F-8EDC-4C58-BAB0-AD931A5B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914525"/>
            <a:ext cx="1685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目标与需求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1095FF-2A29-4521-97F6-5DC3BFB1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6860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源代码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E04DC0-B38C-4726-80AC-F771AB65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114675"/>
            <a:ext cx="1685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代码地图与文件阅读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9C71E3-5F4A-4C88-9EC4-9221A543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8671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自动化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C6EF79-635D-46C2-B902-A022A84E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295775"/>
            <a:ext cx="1685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任务 · 员工 · 终端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8988FD-781C-46D7-A574-0D47524F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50482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存档树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6A189B-7B32-4FD9-9475-C3BD066D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5476875"/>
            <a:ext cx="1685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历史 · 分枝 Demo</a:t>
            </a:r>
          </a:p>
          <a:p xmlns:a="http://schemas.openxmlformats.org/drawingml/2006/main">
            <a:pPr algn="l">
              <a:defRPr sz="12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受控合并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2E8140-08E6-4D34-B91F-9111C76C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981700"/>
            <a:ext cx="561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本地记录：计划 · 笔记 · 日志 · 交付 · 存档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7B80C8-37AA-4708-8056-AF0F120B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343650"/>
            <a:ext cx="433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复验后还有任务：回到计划，继续下一件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F21D6E-F4C4-4961-A8D2-AC95571B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6600825"/>
            <a:ext cx="3771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流程示意｜自动衔接与并行合并持续完善</a:t>
            </a:r>
          </a:p>
        </p:txBody>
      </p:sp>
    </p:spTree>
    <p:extLst>
      <p:ext uri="{BB962C8B-B14F-4D97-AF65-F5344CB8AC3E}">
        <p14:creationId xmlns:p14="http://schemas.microsoft.com/office/powerpoint/2010/main" val="13067111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14FB71-935D-4D4C-B30F-674C0577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03  /  约束长程漂移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EA312-98BF-4483-B171-A7E52271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8100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现有基础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3D7CB-5C97-413D-B067-808A474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先把「怎样才算做好」说清楚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ED46F-A1D2-4CCA-AE68-C348523C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MIRACLEHARNESS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CA9FC-D64B-42DB-825C-F5358DDE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817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05 / 22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b633c427cb4d4a"/>
          <a:stretch xmlns:a="http://schemas.openxmlformats.org/drawingml/2006/main"/>
        </p:blipFill>
        <p:spPr>
          <a:xfrm xmlns:a="http://schemas.openxmlformats.org/drawingml/2006/main">
            <a:off x="6819900" y="2165350"/>
            <a:ext cx="4762500" cy="3175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54B55-C744-4AEE-ACED-4CF00D43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538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蓝图组织目标与需求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B2B5A-6252-471B-ADFF-8100B47C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381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总目标 → 一级目标 → 具体任务。</a:t>
            </a:r>
          </a:p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一个需求可由多个模块承接。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CF46B-DF11-407E-AB94-9E3E78F6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538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验收标准锚定结果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852D4-CA02-404D-BE2E-79063610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5381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保留作者原话与来源，</a:t>
            </a:r>
          </a:p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让 agent 知道要交什么、如何检查。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519EB-67C4-4C5A-B195-278B8E4D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明确区分「待你验收」和「做完」；用真实记录约束偏离。</a:t>
            </a:r>
          </a:p>
        </p:txBody>
      </p:sp>
    </p:spTree>
    <p:extLst>
      <p:ext uri="{BB962C8B-B14F-4D97-AF65-F5344CB8AC3E}">
        <p14:creationId xmlns:p14="http://schemas.microsoft.com/office/powerpoint/2010/main" val="17698228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52981-185B-4C6E-8426-43D0B558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04  /  从计划到开工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18081-6541-4A6C-894E-06337196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8100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现有基础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0329C-F9BA-4D41-875B-2A730B0B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每一件任务，都有清楚的施工依据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18D1C-D2BB-4F9F-8E8E-31BBFD58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MIRACLEHARNESS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C9320-D0FE-42FF-9099-CC86D8A3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817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06 / 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8605C-B32C-4726-9CBE-1DC72445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为什么做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8D0F1-973B-4ED4-AD39-04EAB8ED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333625"/>
            <a:ext cx="790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目标、需求、验收标准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C8FAA-11A1-4B96-92D5-F8A9B638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依据什么做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A4A24-C828-4581-84BF-3CC6A8CC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400425"/>
            <a:ext cx="790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相关材料、适用戒律、可用工具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68210-0289-4813-B613-5686CDE3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允许怎么做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40EC4-D250-4581-8422-94801133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467225"/>
            <a:ext cx="790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负责员工、文件范围、审核通过的计划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46947-84DC-4FFA-9AC8-1B02D275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计划先审，再开工；范围变更后重新审核，结果留下自查与交付。</a:t>
            </a:r>
          </a:p>
        </p:txBody>
      </p:sp>
    </p:spTree>
    <p:extLst>
      <p:ext uri="{BB962C8B-B14F-4D97-AF65-F5344CB8AC3E}">
        <p14:creationId xmlns:p14="http://schemas.microsoft.com/office/powerpoint/2010/main" val="17361913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707117b8e4c8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5305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3E119C-4804-4B33-A890-B887911B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06  /  本地记录与多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46DE6-528E-4D18-BB34-C4866A01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8100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现有基础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B9EF2-A0A2-48AC-8E29-CCA226CF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换一个 Agent，工作还能接上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CDBED-182A-496C-B934-E340F4C9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MIRACLEHARNESS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FE76E-ABF7-48A2-BEDE-60428371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817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08 / 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0665C-1CDA-4F99-BB07-B50D9BD8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0510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同一份记录</a:t>
            </a:r>
          </a:p>
          <a:p xmlns:a="http://schemas.openxmlformats.org/drawingml/2006/main">
            <a:pPr algn="l">
              <a:defRPr sz="3450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不同的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68C89-7794-426C-AB93-D1ADF533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4820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岗位、客户端与模型分别配置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D8F9F-3480-4AE8-9407-D103C148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知道谁负责什么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A6FF1-F643-4407-9650-1C82C40E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员工档案、岗位、范围与权限，</a:t>
            </a:r>
          </a:p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任务认领和必要的核心锁。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13F62-8858-4ED9-AB36-31814680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知道下一步做什么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3D2FC2-6EC0-4AED-910B-E01B68A0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计划、交付、检查结果与交接，</a:t>
            </a:r>
          </a:p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替代只存在于旧对话里的记忆。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D21116-DB37-4519-B876-1AF039B6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面向所有 Agent 开放接手方式；自动启动适配按客户端逐步补齐。</a:t>
            </a:r>
          </a:p>
        </p:txBody>
      </p:sp>
    </p:spTree>
    <p:extLst>
      <p:ext uri="{BB962C8B-B14F-4D97-AF65-F5344CB8AC3E}">
        <p14:creationId xmlns:p14="http://schemas.microsoft.com/office/powerpoint/2010/main" val="4084807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ea0c395144f13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505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6a472eeb548ca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408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836ab5b434adf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2141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07D66-8BC1-4444-86C7-8E7C8ACF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07  /  自动化与可视化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02B95-C962-40D7-A01D-E9B53D8D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8100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持续完善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48813-8F2C-4CFA-9AF6-7DF1F4F4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把执行过程摆到眼前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15796-8428-4782-982C-D490BDCA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MIRACLEHARNESS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5DD84-F557-41E3-BEAF-F2660213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817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12 / 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43805-2860-41EA-8F3F-9703E2E4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43175"/>
            <a:ext cx="4000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任务关系</a:t>
            </a:r>
          </a:p>
          <a:p xmlns:a="http://schemas.openxmlformats.org/drawingml/2006/main">
            <a:pPr algn="l">
              <a:defRPr sz="3150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员工关系</a:t>
            </a:r>
          </a:p>
          <a:p xmlns:a="http://schemas.openxmlformats.org/drawingml/2006/main">
            <a:pPr algn="l">
              <a:defRPr sz="3150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终端观看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02CD2-1C76-4AC0-9652-B9F5550C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任务、员工、窗口彼此关联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6C7F2-F2CF-4A71-AC32-FAF9CF6C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561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查看任务状态、计划审核、等待原因，</a:t>
            </a:r>
          </a:p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观看员工的真实命令行窗口。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71577-C19F-40FB-845C-92D174AF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下一步：可靠地连续推进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1355C-D560-464B-B91A-35257797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561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计划审核 → 施工 → 验收 → 下一件，</a:t>
            </a:r>
          </a:p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持续验证停止、恢复和异常处理。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6B689-E59A-4D78-99E7-1ED99087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现有运行器主要面向 Codex；真实连续开发闭环仍需完成整链验证。</a:t>
            </a:r>
          </a:p>
        </p:txBody>
      </p:sp>
    </p:spTree>
    <p:extLst>
      <p:ext uri="{BB962C8B-B14F-4D97-AF65-F5344CB8AC3E}">
        <p14:creationId xmlns:p14="http://schemas.microsoft.com/office/powerpoint/2010/main" val="1274262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3FA07-B809-4895-8DDB-31C0639A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08  /  存档与分枝试做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73126-F133-40A9-B90A-FDAD8A67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8100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持续完善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C4DD0-7241-4F31-ADF4-99D0453A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让多个方向，都有试做的空间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E7F4D-760F-4554-881E-BBB45D59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MIRACLEHARNESS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CF3D5-E9A0-495B-A079-2A7BB093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817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13 / 22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c3961251f4a98"/>
          <a:stretch xmlns:a="http://schemas.openxmlformats.org/drawingml/2006/main"/>
        </p:blipFill>
        <p:spPr>
          <a:xfrm xmlns:a="http://schemas.openxmlformats.org/drawingml/2006/main">
            <a:off x="6858000" y="2265363"/>
            <a:ext cx="4476750" cy="2984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7D551-A789-4B50-B0F0-6A0C4E30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阶段成果成为存档节点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DF2E4-21E4-489B-8371-2AED3729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查看历史、对照差异、按范围恢复；</a:t>
            </a:r>
          </a:p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总览让项目演进更直观。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D5C83-1B3E-4034-BD40-6979F1E1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分枝 Demo，比较后受控合并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BB75F-4308-439D-92E2-E847F065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独立副本试做不同方向，</a:t>
            </a:r>
          </a:p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保留冲突，再决定哪些成果回到主干。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72F3B-5742-40A7-80F2-1C82B205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分枝当前是独立项目副本；多员工并行 Demo 到合并的完整试跑仍待完善。</a:t>
            </a:r>
          </a:p>
        </p:txBody>
      </p:sp>
    </p:spTree>
    <p:extLst>
      <p:ext uri="{BB962C8B-B14F-4D97-AF65-F5344CB8AC3E}">
        <p14:creationId xmlns:p14="http://schemas.microsoft.com/office/powerpoint/2010/main" val="6859707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2FF2E-B141-476E-B2A4-10DA69E9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09  /  让经验留下来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6A0BF-4555-48E4-A157-14F32207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8100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现有基础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C6BC7-8908-4F93-BA9D-0F6F0365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成功的不只是成果，还有做成它的过程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222D9-2E93-441D-92EE-90CF5DEF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MIRACLEHARNESS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83D9A-29DC-4AF7-A7F0-3B13E50E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817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14 / 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C89CC-51E0-42A1-9D8E-7181F57B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05075"/>
            <a:ext cx="4095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记录 → 方法</a:t>
            </a:r>
          </a:p>
          <a:p xmlns:a="http://schemas.openxmlformats.org/drawingml/2006/main">
            <a:pPr algn="l">
              <a:defRPr sz="2775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方法 → 技能</a:t>
            </a:r>
          </a:p>
          <a:p xmlns:a="http://schemas.openxmlformats.org/drawingml/2006/main">
            <a:pPr algn="l">
              <a:defRPr sz="2775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技能 → 下一次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77E90-E0DC-48F7-944D-E8C83EC2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80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记录一条可复查的路径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B4306-1381-4AEF-9C8B-2DA765BD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5800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已记录的目标、计划、判断、操作</a:t>
            </a:r>
          </a:p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与检查结果，可回看与核对。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0256F-BCC7-4BD9-AC17-4AC81B43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整理成下一次可用的方法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ED6FE-2F01-4E91-82BD-8F928523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600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把成熟做法提炼为技能、模板和流程，</a:t>
            </a:r>
          </a:p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新任务重新核对条件后再使用。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967F0-8CE7-46C5-B7B5-D414DD6D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已有工作流与日志；自动从成功记录提炼通用流程属于后续建设。</a:t>
            </a:r>
          </a:p>
        </p:txBody>
      </p:sp>
    </p:spTree>
    <p:extLst>
      <p:ext uri="{BB962C8B-B14F-4D97-AF65-F5344CB8AC3E}">
        <p14:creationId xmlns:p14="http://schemas.microsoft.com/office/powerpoint/2010/main" val="5346330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bd54017e94f35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6930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3062B8-2BD6-4ED8-BCF3-234A77C4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10  /  内置业务方法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FCB42-C7FD-4B3D-9C24-82760C88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8100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现有基础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02EA9-BBCA-4443-8BE0-8C1F3F88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从小白入门，到按阶段完成工作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08943-C6E0-4BB7-9DED-F785C0E1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MIRACLEHARNESS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6ADDC-C420-4863-BB11-1978B926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817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16 / 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F8012-344E-404D-AC46-42DB4511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科研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6AAB0-C589-486F-AE1B-D1D8838A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33528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选题与证据</a:t>
            </a:r>
          </a:p>
          <a:p xmlns:a="http://schemas.openxmlformats.org/drawingml/2006/main">
            <a:pPr algn="l">
              <a:defRPr sz="21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实验与分析</a:t>
            </a:r>
          </a:p>
          <a:p xmlns:a="http://schemas.openxmlformats.org/drawingml/2006/main">
            <a:pPr algn="l">
              <a:defRPr sz="21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论文与投稿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0E441-DE0D-4ED9-8468-280A0871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9077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352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73529A"/>
                </a:solidFill>
                <a:latin typeface="Microsoft YaHei"/>
                <a:ea typeface="Microsoft YaHei"/>
                <a:cs typeface="Microsoft YaHei"/>
              </a:rPr>
              <a:t>小说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481CD-F1A8-474F-801D-F3DE9BEC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57550"/>
            <a:ext cx="33528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设定与大纲</a:t>
            </a:r>
          </a:p>
          <a:p xmlns:a="http://schemas.openxmlformats.org/drawingml/2006/main">
            <a:pPr algn="l">
              <a:defRPr sz="21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章节写作</a:t>
            </a:r>
          </a:p>
          <a:p xmlns:a="http://schemas.openxmlformats.org/drawingml/2006/main">
            <a:pPr algn="l">
              <a:defRPr sz="21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审查与状态维护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24F26-B599-4B26-9C88-5CEC20A8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9077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352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73529A"/>
                </a:solidFill>
                <a:latin typeface="Microsoft YaHei"/>
                <a:ea typeface="Microsoft YaHei"/>
                <a:cs typeface="Microsoft YaHei"/>
              </a:rPr>
              <a:t>剪辑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876A5-7D00-463B-B91C-AA85CFF3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57550"/>
            <a:ext cx="33528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素材探测</a:t>
            </a:r>
          </a:p>
          <a:p xmlns:a="http://schemas.openxmlformats.org/drawingml/2006/main">
            <a:pPr algn="l">
              <a:defRPr sz="21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剪辑计划</a:t>
            </a:r>
          </a:p>
          <a:p xmlns:a="http://schemas.openxmlformats.org/drawingml/2006/main">
            <a:pPr algn="l">
              <a:defRPr sz="21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制作与导出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465D9-ECB6-4301-8150-A0A79F2C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技能给出做法、输入与检查要求；PPT 只设素材与成果展示两个入口。</a:t>
            </a:r>
          </a:p>
        </p:txBody>
      </p:sp>
    </p:spTree>
    <p:extLst>
      <p:ext uri="{BB962C8B-B14F-4D97-AF65-F5344CB8AC3E}">
        <p14:creationId xmlns:p14="http://schemas.microsoft.com/office/powerpoint/2010/main" val="4275864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1B118-B38C-4E47-8BD9-6B69B7BE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11  /  可带走、可改装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415E5-1C77-42C3-A530-0264E281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8100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现有基础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6F222-4EF3-4E8E-A7E4-4A9E7324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把平台变成你自己的工作方法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64566-49ED-4942-8D67-8C4BA19A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MIRACLEHARNESS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FA626-6ABA-4FBA-9B04-DEF4C606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817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17 / 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5C8D7-5031-47F5-B815-FD1C9A40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67000"/>
            <a:ext cx="4095750" cy="2200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7352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73529A"/>
                </a:solidFill>
                <a:latin typeface="Microsoft YaHei"/>
                <a:ea typeface="Microsoft YaHei"/>
                <a:cs typeface="Microsoft YaHei"/>
              </a:rPr>
              <a:t>你的项目</a:t>
            </a:r>
          </a:p>
          <a:p xmlns:a="http://schemas.openxmlformats.org/drawingml/2006/main">
            <a:pPr algn="l">
              <a:defRPr sz="3825" b="1">
                <a:solidFill>
                  <a:srgbClr val="7352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73529A"/>
                </a:solidFill>
                <a:latin typeface="Microsoft YaHei"/>
                <a:ea typeface="Microsoft YaHei"/>
                <a:cs typeface="Microsoft YaHei"/>
              </a:rPr>
              <a:t>你的方法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5EB2D-6CE4-47E7-956D-C6B876D2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76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新建项目，按需选择业务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245CC-D0C2-4126-9B08-0E50D722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576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固定能力随模板带上；</a:t>
            </a:r>
          </a:p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选择业务模块，继承它的内置内容。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A7B36-9739-40A7-9F1D-2F782B2F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580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用自己的 Agent 继续 DIY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2C8F7-92BF-4645-B0F1-2D03EE06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5800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增加模块、材料、技能和工具入口，</a:t>
            </a:r>
          </a:p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逐步形成适合本项目的工作台。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D1F16-1A34-49C1-B56B-9296476B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内置方法可以复制；当前项目的私有材料、笔记和运行状态不会自动带走。</a:t>
            </a:r>
          </a:p>
        </p:txBody>
      </p:sp>
    </p:spTree>
    <p:extLst>
      <p:ext uri="{BB962C8B-B14F-4D97-AF65-F5344CB8AC3E}">
        <p14:creationId xmlns:p14="http://schemas.microsoft.com/office/powerpoint/2010/main" val="19568059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E00D50-DB3B-4D15-A4DB-B8560DDD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12  /  万物插件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C63B1-0F2A-4EEC-8935-3ED2B0BB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8100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扩展方向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955DD-8B3D-4352-AB79-C35EADD1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一个网页入口，连接不同工具能力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62158-DD51-45E2-BBF3-C834A508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MIRACLEHARNESS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4085A-66AA-424C-BB8C-B098095D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817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18 / 22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4da03309d41e6"/>
          <a:stretch xmlns:a="http://schemas.openxmlformats.org/drawingml/2006/main"/>
        </p:blipFill>
        <p:spPr>
          <a:xfrm xmlns:a="http://schemas.openxmlformats.org/drawingml/2006/main">
            <a:off x="6400800" y="2078038"/>
            <a:ext cx="5181600" cy="3454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0A00A-2430-42B9-8D7E-74E063FA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560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把工具用法也留在项目里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6F668-0CAA-4C49-946E-CA701F72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600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安装地址、步骤、调用协议与来源，</a:t>
            </a:r>
          </a:p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让另一个 agent 可以接着使用。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BF2B8-2E5B-45D6-9D74-53F084B2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557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按工作需要接入插件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D7517-9E44-4B7A-97DB-DB15FBEB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557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文件显示、格式转换、编辑与执行，</a:t>
            </a:r>
          </a:p>
          <a:p xmlns:a="http://schemas.openxmlformats.org/drawingml/2006/main">
            <a:pPr algn="l">
              <a:def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由合适的本地工具逐步补齐。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7D52A-4AC5-424A-B9A2-68A77250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文档、插件入口、实际安装和可执行能力各有状态；核心无需先配置模型 API 密钥。</a:t>
            </a:r>
          </a:p>
        </p:txBody>
      </p:sp>
    </p:spTree>
    <p:extLst>
      <p:ext uri="{BB962C8B-B14F-4D97-AF65-F5344CB8AC3E}">
        <p14:creationId xmlns:p14="http://schemas.microsoft.com/office/powerpoint/2010/main" val="11575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BA661E-4C66-48F1-BED5-BF0AC8A2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13  /  未来机会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E6437-1B79-49A6-82B1-B6C28200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8100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未来设想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5E359-FEF8-479F-8408-F669833E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让高质量工作过程产生更多价值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86368-F19E-4266-821D-9EDFA4B7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MIRACLEHARNESS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4DA19-0DB3-48FE-90AC-7AD2185F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817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19 / 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49C72-0C05-45A0-A204-768ABE71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经用户选择与授权，</a:t>
            </a:r>
          </a:p>
          <a:p xmlns:a="http://schemas.openxmlformats.org/drawingml/2006/main">
            <a:pPr algn="l">
              <a:defRPr sz="330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探索操作数据与模型能力研究合作。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DB6FE-688C-46AC-B5B7-28269BA7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3524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清楚的过程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77C59-C1CF-4870-AE2B-2E1500C3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知道目标、操作、结果与验收。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621E9-93EA-42A2-8264-92729CC5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29100"/>
            <a:ext cx="3524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明确的授权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72EC2-4C72-4D8E-AA28-44DE0812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291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界定范围、用途和可分享内容。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B9FBF-8B0D-42CB-B62A-2970B287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29100"/>
            <a:ext cx="3524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可验证的质量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D99F7-9A46-49D3-9A57-78709251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291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评估记录能否帮助长程任务学习。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E8076-CA23-4DAC-92D2-4519F3DF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包括未来向模型公司许可高质量数据的机会；目前尚无已上线的数据交易能力。</a:t>
            </a:r>
          </a:p>
        </p:txBody>
      </p:sp>
    </p:spTree>
    <p:extLst>
      <p:ext uri="{BB962C8B-B14F-4D97-AF65-F5344CB8AC3E}">
        <p14:creationId xmlns:p14="http://schemas.microsoft.com/office/powerpoint/2010/main" val="206217884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7B64D-EC77-4B57-8867-4A9D6E54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14  / 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99F8A-8B77-48B0-A433-43848A2B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8100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发展路线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D5561-FB76-4B56-9646-BEE09BC1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先把执行闭环做可靠，再扩大能力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AFF40-A36A-4F5D-AD1B-778C8B80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MIRACLEHARNESS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A13AF-682D-4C13-9C53-D7C7D351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817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20 / 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F3228-7024-4335-8116-326BDB85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52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0B4E9-7B5B-4E03-BC6F-91882F87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可靠执行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991D8-AD75-4CF9-A0AF-3E8ADE4A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34766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任务接续、独立验收、</a:t>
            </a:r>
          </a:p>
          <a:p xmlns:a="http://schemas.openxmlformats.org/drawingml/2006/main">
            <a:pPr algn="l">
              <a:defRPr sz="20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停止与恢复、真实终端。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02D8D-D6D1-4361-A60D-C5AB6887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00275"/>
            <a:ext cx="352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2D519-A9CF-4DBF-B1B0-074C4D53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1945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并行试做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1DEB2-0C04-4B39-93EB-3662731C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81450"/>
            <a:ext cx="34766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隔离 Demo、比较成果、</a:t>
            </a:r>
          </a:p>
          <a:p xmlns:a="http://schemas.openxmlformats.org/drawingml/2006/main">
            <a:pPr algn="l">
              <a:defRPr sz="20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处理冲突、验证合并。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98D82-CF69-407F-B845-D605555C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00275"/>
            <a:ext cx="352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9DAC7-8641-491B-92C3-EB1A4016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持续扩展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9B45D-A7B9-4541-BFEB-8774F5B8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81450"/>
            <a:ext cx="34766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插件与业务体验、</a:t>
            </a:r>
          </a:p>
          <a:p xmlns:a="http://schemas.openxmlformats.org/drawingml/2006/main">
            <a:pPr algn="l">
              <a:defRPr sz="20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方法复用、更多 Agent 适配。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F68DDE-5E91-41CD-AB73-6A952AAB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每一轮都回到同一套目标、计划和验收；以真实运行与使用反馈推进。</a:t>
            </a:r>
          </a:p>
        </p:txBody>
      </p:sp>
    </p:spTree>
    <p:extLst>
      <p:ext uri="{BB962C8B-B14F-4D97-AF65-F5344CB8AC3E}">
        <p14:creationId xmlns:p14="http://schemas.microsoft.com/office/powerpoint/2010/main" val="32108795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658bcef2924fba"/>
          <a:stretch xmlns:a="http://schemas.openxmlformats.org/drawingml/2006/main"/>
        </p:blipFill>
        <p:spPr>
          <a:xfrm xmlns:a="http://schemas.openxmlformats.org/drawingml/2006/main">
            <a:off x="7620000" y="1671638"/>
            <a:ext cx="3448050" cy="3448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F100D-3349-4F45-A867-92511F9B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MIRACLEHARNESS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3AB48-8EBB-4B63-8C1E-81B47813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5543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项目会完成，</a:t>
            </a:r>
          </a:p>
          <a:p xmlns:a="http://schemas.openxmlformats.org/drawingml/2006/main">
            <a:pPr algn="l">
              <a:defRPr sz="420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经验继续生长。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E150D-FE19-46D4-B4AE-20158E66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48125"/>
            <a:ext cx="54102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把下一件事写进蓝图，</a:t>
            </a:r>
          </a:p>
          <a:p xmlns:a="http://schemas.openxmlformats.org/drawingml/2006/main">
            <a:pPr algn="l">
              <a:defRPr sz="21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让 Agent 带着清楚的目标开工。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39522-AE7C-41DF-B6D1-918E0415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6265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本地记录  /  人定方向  /  持续复用</a:t>
            </a:r>
          </a:p>
        </p:txBody>
      </p:sp>
    </p:spTree>
    <p:extLst>
      <p:ext uri="{BB962C8B-B14F-4D97-AF65-F5344CB8AC3E}">
        <p14:creationId xmlns:p14="http://schemas.microsoft.com/office/powerpoint/2010/main" val="1549611626"/>
      </p:ext>
    </p:extLst>
  </p:cSld>
</p:sld>
</file>

<file path=ppt/slides/slide2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7" name="">
            <a:extLst>
              <a:ext uri="{FF2B5EF4-FFF2-40B4-BE49-F238E27FC236}">
                <ns2:creationId id="{33EDA339-5E68-41DD-91E6-D98EE6D0D9E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8477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MIRACLEHARNESS  /  CONTACT</a:t>
            </a:r>
          </a:p>
        </p:txBody>
      </p:sp>
      <p:sp>
        <p:nvSpPr>
          <p:cNvPr id="2" name="">
            <a:extLst>
              <a:ext uri="{FF2B5EF4-FFF2-40B4-BE49-F238E27FC236}">
                <ns2:creationId id="{B534E928-44C7-4FD3-A41B-E91B1F1228AC}"/>
              </a:ext>
            </a:extLst>
          </p:cNvPr>
          <p:cNvSpPr>
            <a:spLocks noGrp="1"/>
          </p:cNvSpPr>
          <p:nvPr/>
        </p:nvSpPr>
        <p:spPr>
          <a:xfrm>
            <a:off x="9858375" y="381000"/>
            <a:ext cx="17240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t/>
            </a:r>
          </a:p>
        </p:txBody>
      </p:sp>
      <p:sp>
        <p:nvSpPr>
          <p:cNvPr id="3" name="">
            <a:extLst>
              <a:ext uri="{FF2B5EF4-FFF2-40B4-BE49-F238E27FC236}">
                <ns2:creationId id="{FBDCDC0F-2DC0-46FF-8822-3E1D592499AF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109728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项目入口与联系</a:t>
            </a:r>
          </a:p>
        </p:txBody>
      </p:sp>
      <p:sp>
        <p:nvSpPr>
          <p:cNvPr id="4" name="">
            <a:extLst>
              <a:ext uri="{FF2B5EF4-FFF2-40B4-BE49-F238E27FC236}">
                <ns2:creationId id="{18A80AFC-9201-4ECF-9A8A-2C41528092D5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4857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MIRACLEHARNESS</a:t>
            </a:r>
          </a:p>
        </p:txBody>
      </p:sp>
      <p:sp>
        <p:nvSpPr>
          <p:cNvPr id="5" name="">
            <a:extLst>
              <a:ext uri="{FF2B5EF4-FFF2-40B4-BE49-F238E27FC236}">
                <ns2:creationId id="{51BB6450-9692-45FB-AAA5-D8373DA3D8BC}"/>
              </a:ext>
            </a:extLst>
          </p:cNvPr>
          <p:cNvSpPr>
            <a:spLocks noGrp="1"/>
          </p:cNvSpPr>
          <p:nvPr/>
        </p:nvSpPr>
        <p:spPr>
          <a:xfrm>
            <a:off x="10287000" y="6381750"/>
            <a:ext cx="1295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22 / 22</a:t>
            </a:r>
          </a:p>
        </p:txBody>
      </p:sp>
      <p:sp>
        <p:nvSpPr>
          <p:cNvPr id="6" name="">
            <a:extLst>
              <a:ext uri="{FF2B5EF4-FFF2-40B4-BE49-F238E27FC236}">
                <ns2:creationId id="{79245FF2-B35F-4DEA-AD6B-C08976AE8A4E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6762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GitHub 仓库</a:t>
            </a:r>
          </a:p>
        </p:txBody>
      </p:sp>
      <p:sp>
        <p:nvSpPr>
          <p:cNvPr id="7" name="">
            <a:extLst>
              <a:ext uri="{FF2B5EF4-FFF2-40B4-BE49-F238E27FC236}">
                <ns2:creationId id="{1A404CA9-C3FD-488A-B733-936E223DC15F}"/>
              </a:ext>
            </a:extLst>
            <a:hlinkClick r:id="rIdContact1"/>
          </p:cNvPr>
          <p:cNvSpPr>
            <a:spLocks noGrp="1"/>
          </p:cNvSpPr>
          <p:nvPr/>
        </p:nvSpPr>
        <p:spPr>
          <a:xfrm>
            <a:off x="609600" y="2562225"/>
            <a:ext cx="70961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https://github.com/tmdysx/miracle-harness-site</a:t>
            </a:r>
          </a:p>
        </p:txBody>
      </p:sp>
      <p:sp>
        <p:nvSpPr>
          <p:cNvPr id="8" name="">
            <a:extLst>
              <a:ext uri="{FF2B5EF4-FFF2-40B4-BE49-F238E27FC236}">
                <ns2:creationId id="{9B0501EB-504D-411B-86F3-ADDE08BE0980}"/>
              </a:ext>
            </a:extLst>
          </p:cNvPr>
          <p:cNvSpPr>
            <a:spLocks noGrp="1"/>
          </p:cNvSpPr>
          <p:nvPr/>
        </p:nvSpPr>
        <p:spPr>
          <a:xfrm>
            <a:off x="609600" y="2962275"/>
            <a:ext cx="6762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官网与留言板项目，查看源代码与更新</a:t>
            </a:r>
          </a:p>
        </p:txBody>
      </p:sp>
      <p:sp>
        <p:nvSpPr>
          <p:cNvPr id="9" name="">
            <a:extLst>
              <a:ext uri="{FF2B5EF4-FFF2-40B4-BE49-F238E27FC236}">
                <ns2:creationId id="{F642A0E9-633F-4F98-9511-BED40288991A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6762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官方网站</a:t>
            </a:r>
          </a:p>
        </p:txBody>
      </p:sp>
      <p:sp>
        <p:nvSpPr>
          <p:cNvPr id="10" name="">
            <a:extLst>
              <a:ext uri="{FF2B5EF4-FFF2-40B4-BE49-F238E27FC236}">
                <ns2:creationId id="{2E003D09-3AFE-462E-8D8B-5517DE2132FD}"/>
              </a:ext>
            </a:extLst>
            <a:hlinkClick r:id="rIdContact2"/>
          </p:cNvPr>
          <p:cNvSpPr>
            <a:spLocks noGrp="1"/>
          </p:cNvSpPr>
          <p:nvPr/>
        </p:nvSpPr>
        <p:spPr>
          <a:xfrm>
            <a:off x="609600" y="3990975"/>
            <a:ext cx="6762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https://miracleharness.com/</a:t>
            </a:r>
          </a:p>
        </p:txBody>
      </p:sp>
      <p:sp>
        <p:nvSpPr>
          <p:cNvPr id="11" name="">
            <a:extLst>
              <a:ext uri="{FF2B5EF4-FFF2-40B4-BE49-F238E27FC236}">
                <ns2:creationId id="{9DD6CD06-C95D-4825-95F7-A797F698BF4D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2952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电话</a:t>
            </a:r>
          </a:p>
        </p:txBody>
      </p:sp>
      <p:sp>
        <p:nvSpPr>
          <p:cNvPr id="12" name="">
            <a:extLst>
              <a:ext uri="{FF2B5EF4-FFF2-40B4-BE49-F238E27FC236}">
                <ns2:creationId id="{6A5FCD6C-5384-4B59-85F9-A799E811502B}"/>
              </a:ext>
            </a:extLst>
          </p:cNvPr>
          <p:cNvSpPr>
            <a:spLocks noGrp="1"/>
          </p:cNvSpPr>
          <p:nvPr/>
        </p:nvSpPr>
        <p:spPr>
          <a:xfrm>
            <a:off x="4152900" y="4714875"/>
            <a:ext cx="338137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邮箱</a:t>
            </a:r>
          </a:p>
        </p:txBody>
      </p:sp>
      <p:sp>
        <p:nvSpPr>
          <p:cNvPr id="13" name="">
            <a:extLst>
              <a:ext uri="{FF2B5EF4-FFF2-40B4-BE49-F238E27FC236}">
                <ns2:creationId id="{28B2E3BB-A199-4C19-B9DB-534B535BE297}"/>
              </a:ext>
            </a:extLst>
            <a:hlinkClick r:id="rIdContact3"/>
          </p:cNvPr>
          <p:cNvSpPr>
            <a:spLocks noGrp="1"/>
          </p:cNvSpPr>
          <p:nvPr/>
        </p:nvSpPr>
        <p:spPr>
          <a:xfrm>
            <a:off x="609600" y="5143500"/>
            <a:ext cx="317182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+8618977336431</a:t>
            </a:r>
          </a:p>
        </p:txBody>
      </p:sp>
      <p:sp>
        <p:nvSpPr>
          <p:cNvPr id="14" name="">
            <a:extLst>
              <a:ext uri="{FF2B5EF4-FFF2-40B4-BE49-F238E27FC236}">
                <ns2:creationId id="{31869BD3-F176-4327-89F8-758F26CD8647}"/>
              </a:ext>
            </a:extLst>
            <a:hlinkClick r:id="rIdContact4"/>
          </p:cNvPr>
          <p:cNvSpPr>
            <a:spLocks noGrp="1"/>
          </p:cNvSpPr>
          <p:nvPr/>
        </p:nvSpPr>
        <p:spPr>
          <a:xfrm>
            <a:off x="4152900" y="5143500"/>
            <a:ext cx="35242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3129746403@qq.com</a:t>
            </a:r>
          </a:p>
        </p:txBody>
      </p:sp>
      <p:sp>
        <p:nvSpPr>
          <p:cNvPr id="15" name="">
            <a:extLst>
              <a:ext uri="{FF2B5EF4-FFF2-40B4-BE49-F238E27FC236}">
                <ns2:creationId id="{01624880-0629-456C-8DFC-6FCA25414CD7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70199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欢迎交流项目使用、功能建议与合作</a:t>
            </a:r>
          </a:p>
        </p:txBody>
      </p:sp>
      <p:pic>
        <p:nvPicPr>
          <p:cNvPr id="32" name=""/>
          <p:cNvPicPr>
            <a:picLocks noChangeAspect="1"/>
          </p:cNvPicPr>
          <p:nvPr/>
        </p:nvPicPr>
        <p:blipFill>
          <a:blip r:embed="R14409ddac32b4a6b"/>
          <a:stretch/>
        </p:blipFill>
        <p:spPr>
          <a:xfrm>
            <a:off x="8096473" y="1781175"/>
            <a:ext cx="3476179" cy="4429125"/>
          </a:xfrm>
          <a:prstGeom prst="rect">
            <a:avLst/>
          </a:prstGeom>
        </p:spPr>
      </p:pic>
    </p:spTree>
    <p:extLst>
      <p:ext uri="{BB962C8B-B14F-4D97-AF65-F5344CB8AC3E}">
        <ns4:creationId val="1850223681"/>
      </p:ext>
    </p:extLst>
  </p:cSld>
</p:sld>
</file>

<file path=ppt/slides/slide2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7" name="">
            <a:extLst>
              <a:ext uri="{FF2B5EF4-FFF2-40B4-BE49-F238E27FC236}">
                <ns2:creationId id="{33EDA339-5E68-41DD-91E6-D98EE6D0D9E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8477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MIRACLEHARNESS  /  LICENSE</a:t>
            </a:r>
          </a:p>
        </p:txBody>
      </p:sp>
      <p:sp>
        <p:nvSpPr>
          <p:cNvPr id="2" name="">
            <a:extLst>
              <a:ext uri="{FF2B5EF4-FFF2-40B4-BE49-F238E27FC236}">
                <ns2:creationId id="{B534E928-44C7-4FD3-A41B-E91B1F1228AC}"/>
              </a:ext>
            </a:extLst>
          </p:cNvPr>
          <p:cNvSpPr>
            <a:spLocks noGrp="1"/>
          </p:cNvSpPr>
          <p:nvPr/>
        </p:nvSpPr>
        <p:spPr>
          <a:xfrm>
            <a:off x="9858375" y="381000"/>
            <a:ext cx="17240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t/>
            </a:r>
          </a:p>
        </p:txBody>
      </p:sp>
      <p:sp>
        <p:nvSpPr>
          <p:cNvPr id="3" name="">
            <a:extLst>
              <a:ext uri="{FF2B5EF4-FFF2-40B4-BE49-F238E27FC236}">
                <ns2:creationId id="{FBDCDC0F-2DC0-46FF-8822-3E1D592499AF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109728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使用许可与商业授权</a:t>
            </a:r>
          </a:p>
        </p:txBody>
      </p:sp>
      <p:sp>
        <p:nvSpPr>
          <p:cNvPr id="4" name="">
            <a:extLst>
              <a:ext uri="{FF2B5EF4-FFF2-40B4-BE49-F238E27FC236}">
                <ns2:creationId id="{18A80AFC-9201-4ECF-9A8A-2C41528092D5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4857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MIRACLEHARNESS</a:t>
            </a:r>
          </a:p>
        </p:txBody>
      </p:sp>
      <p:sp>
        <p:nvSpPr>
          <p:cNvPr id="5" name="">
            <a:extLst>
              <a:ext uri="{FF2B5EF4-FFF2-40B4-BE49-F238E27FC236}">
                <ns2:creationId id="{51BB6450-9692-45FB-AAA5-D8373DA3D8BC}"/>
              </a:ext>
            </a:extLst>
          </p:cNvPr>
          <p:cNvSpPr>
            <a:spLocks noGrp="1"/>
          </p:cNvSpPr>
          <p:nvPr/>
        </p:nvSpPr>
        <p:spPr>
          <a:xfrm>
            <a:off x="10287000" y="6381750"/>
            <a:ext cx="1295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23 / 23</a:t>
            </a:r>
          </a:p>
        </p:txBody>
      </p:sp>
      <p:sp>
        <p:nvSpPr>
          <p:cNvPr id="6" name="">
            <a:extLst>
              <a:ext uri="{FF2B5EF4-FFF2-40B4-BE49-F238E27FC236}">
                <ns2:creationId id="{79245FF2-B35F-4DEA-AD6B-C08976AE8A4E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6762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个人与非商业研究</a:t>
            </a:r>
          </a:p>
        </p:txBody>
      </p:sp>
      <p:sp>
        <p:nvSpPr>
          <p:cNvPr id="7" name="">
            <a:extLst>
              <a:ext uri="{FF2B5EF4-FFF2-40B4-BE49-F238E27FC236}">
                <ns2:creationId id="{1A404CA9-C3FD-488A-B733-936E223DC15F}"/>
              </a:ext>
            </a:extLst>
            <a:hlinkClick r:id="rIdContact1"/>
          </p:cNvPr>
          <p:cNvSpPr>
            <a:spLocks noGrp="1"/>
          </p:cNvSpPr>
          <p:nvPr/>
        </p:nvSpPr>
        <p:spPr>
          <a:xfrm>
            <a:off x="609600" y="2562225"/>
            <a:ext cx="70961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个人学习、非商业研究可免费使用。</a:t>
            </a:r>
          </a:p>
        </p:txBody>
      </p:sp>
      <p:sp>
        <p:nvSpPr>
          <p:cNvPr id="8" name="">
            <a:extLst>
              <a:ext uri="{FF2B5EF4-FFF2-40B4-BE49-F238E27FC236}">
                <ns2:creationId id="{9B0501EB-504D-411B-86F3-ADDE08BE0980}"/>
              </a:ext>
            </a:extLst>
          </p:cNvPr>
          <p:cNvSpPr>
            <a:spLocks noGrp="1"/>
          </p:cNvSpPr>
          <p:nvPr/>
        </p:nvSpPr>
        <p:spPr>
          <a:xfrm>
            <a:off x="609600" y="2962275"/>
            <a:ext cx="6762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依 PolyForm Noncommercial 1.0.0 许可条款使用。</a:t>
            </a:r>
          </a:p>
        </p:txBody>
      </p:sp>
      <p:sp>
        <p:nvSpPr>
          <p:cNvPr id="9" name="">
            <a:extLst>
              <a:ext uri="{FF2B5EF4-FFF2-40B4-BE49-F238E27FC236}">
                <ns2:creationId id="{F642A0E9-633F-4F98-9511-BED40288991A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6762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7B63"/>
                </a:solidFill>
                <a:latin typeface="Microsoft YaHei"/>
                <a:ea typeface="Microsoft YaHei"/>
                <a:cs typeface="Microsoft YaHei"/>
              </a:rPr>
              <a:t>商业使用</a:t>
            </a:r>
          </a:p>
        </p:txBody>
      </p:sp>
      <p:sp>
        <p:nvSpPr>
          <p:cNvPr id="10" name="">
            <a:extLst>
              <a:ext uri="{FF2B5EF4-FFF2-40B4-BE49-F238E27FC236}">
                <ns2:creationId id="{2E003D09-3AFE-462E-8D8B-5517DE2132FD}"/>
              </a:ext>
            </a:extLst>
            <a:hlinkClick r:id="rIdContact2"/>
          </p:cNvPr>
          <p:cNvSpPr>
            <a:spLocks noGrp="1"/>
          </p:cNvSpPr>
          <p:nvPr/>
        </p:nvSpPr>
        <p:spPr>
          <a:xfrm>
            <a:off x="609600" y="3990975"/>
            <a:ext cx="6762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商业用途需取得作者另行书面授权。</a:t>
            </a:r>
          </a:p>
        </p:txBody>
      </p:sp>
      <p:sp>
        <p:nvSpPr>
          <p:cNvPr id="12" name="">
            <a:extLst>
              <a:ext uri="{FF2B5EF4-FFF2-40B4-BE49-F238E27FC236}">
                <ns2:creationId id="{6A5FCD6C-5384-4B59-85F9-A799E811502B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70199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D8230"/>
                </a:solidFill>
                <a:latin typeface="Microsoft YaHei"/>
                <a:ea typeface="Microsoft YaHei"/>
                <a:cs typeface="Microsoft YaHei"/>
              </a:rPr>
              <a:t>商业授权联系邮箱</a:t>
            </a:r>
          </a:p>
        </p:txBody>
      </p:sp>
      <p:sp>
        <p:nvSpPr>
          <p:cNvPr id="14" name="">
            <a:extLst>
              <a:ext uri="{FF2B5EF4-FFF2-40B4-BE49-F238E27FC236}">
                <ns2:creationId id="{31869BD3-F176-4327-89F8-758F26CD8647}"/>
              </a:ext>
            </a:extLst>
            <a:hlinkClick r:id="rIdContact4"/>
          </p:cNvPr>
          <p:cNvSpPr>
            <a:spLocks noGrp="1"/>
          </p:cNvSpPr>
          <p:nvPr/>
        </p:nvSpPr>
        <p:spPr>
          <a:xfrm>
            <a:off x="609600" y="5143500"/>
            <a:ext cx="701992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C32"/>
                </a:solidFill>
                <a:latin typeface="Microsoft YaHei"/>
                <a:ea typeface="Microsoft YaHei"/>
                <a:cs typeface="Microsoft YaHei"/>
              </a:rPr>
              <a:t>3129746403@qq.com</a:t>
            </a:r>
          </a:p>
        </p:txBody>
      </p:sp>
      <p:sp>
        <p:nvSpPr>
          <p:cNvPr id="15" name="">
            <a:extLst>
              <a:ext uri="{FF2B5EF4-FFF2-40B4-BE49-F238E27FC236}">
                <ns2:creationId id="{01624880-0629-456C-8DFC-6FCA25414CD7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70199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5E"/>
                </a:solidFill>
                <a:latin typeface="Microsoft YaHei"/>
                <a:ea typeface="Microsoft YaHei"/>
                <a:cs typeface="Microsoft YaHei"/>
              </a:rPr>
              <a:t>第三方组件各守原许可；完整条款见 LICENSE、NOTICE。</a:t>
            </a:r>
          </a:p>
        </p:txBody>
      </p:sp>
    </p:spTree>
    <p:extLst>
      <p:ext uri="{BB962C8B-B14F-4D97-AF65-F5344CB8AC3E}">
        <ns4:creationId val="18502236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267B63"/>
      </a:hlink>
      <a:folHlink>
        <a:srgbClr val="267B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23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2026-10-07T02:29:38.6940000Z</dcterms:created>
  <dcterms:modified xsi:type="dcterms:W3CDTF">2026-10-07T02:29:38.6940000Z</dcterms:modified>
</coreProperties>
</file>